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4" r:id="rId2"/>
    <p:sldId id="338" r:id="rId3"/>
    <p:sldId id="387" r:id="rId4"/>
    <p:sldId id="388" r:id="rId5"/>
    <p:sldId id="389" r:id="rId6"/>
    <p:sldId id="390" r:id="rId7"/>
    <p:sldId id="391" r:id="rId8"/>
    <p:sldId id="394" r:id="rId9"/>
    <p:sldId id="393" r:id="rId10"/>
    <p:sldId id="392" r:id="rId11"/>
    <p:sldId id="407" r:id="rId12"/>
    <p:sldId id="395" r:id="rId13"/>
    <p:sldId id="396" r:id="rId14"/>
    <p:sldId id="397" r:id="rId15"/>
    <p:sldId id="399" r:id="rId16"/>
    <p:sldId id="406" r:id="rId17"/>
    <p:sldId id="398" r:id="rId18"/>
    <p:sldId id="400" r:id="rId19"/>
    <p:sldId id="403" r:id="rId20"/>
    <p:sldId id="408" r:id="rId21"/>
    <p:sldId id="404" r:id="rId22"/>
    <p:sldId id="401" r:id="rId23"/>
    <p:sldId id="402" r:id="rId24"/>
  </p:sldIdLst>
  <p:sldSz cx="12192000" cy="6858000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BD3C9-A0FF-43CB-9068-1552A29AB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17982-55F6-49FA-8C98-537C5C62D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80E76-8306-4C38-83E7-3293636CF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87BEF-A487-4A3F-ABE4-5315D95B0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1723E-A384-43C0-8010-982FB628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25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34981-F7BB-4D13-B76D-0CA1465F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B6020-A522-407D-89A0-5AFFA67A4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A94E5-CE6D-4A9B-9AD1-453D8DA30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9709D-68FD-4B02-8A60-3A5682DD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7CCC-E3F4-45B5-B947-62CB3BD00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160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1774-7BDD-4321-ACD0-E6120688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27C91-EC32-4972-BCC4-BEC51E3FB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0C2CD-DBBD-495F-9ABA-3874A2E49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64BF1-FF1D-46EA-827C-8395047D8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18B94-07D6-4CDC-A56A-8AACA022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69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4F09E-3B9C-44DA-AC95-58CEFBCB0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DB342-B547-41BF-8236-2B5E7A4667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01368-EE7B-4C0E-BC57-7AFACB74B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45F44-4620-4B40-BE48-347ABE519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8EA6F-307B-426F-81DF-6C2BA1AA6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F1017-4476-4770-87FE-4CC9BF57C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90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C1BDD-C122-457F-A8A0-10E2F4FE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64018-34E0-4117-99CC-65F16A514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74F49-EB3C-4EA9-BDD9-482D43AFA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EEFAE-58BF-4867-8A7A-3DC64CD59D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D6ADC6-6252-495A-B151-532831205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88D7D-284B-4515-9BC8-4862F87F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DE0B35-9F6A-45D6-95F1-F8F942A8A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DED8F4-88E8-4817-9A38-99932889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5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539D4-67C4-4E1E-A6BA-0B37335C7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F32E73-45BC-4A8F-B2C6-07E8BE827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B8D119-E599-4F0D-8D00-547498BBD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4FBC5-AF27-4000-A088-C243B69A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8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9DD204-254B-4334-9E0E-952665361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118692-CCDA-4BC6-8368-E61836337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F5833-99C5-49B5-8DE8-3DCE03C00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8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B49C-EB84-4DA3-AE0A-01911B8B7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A8CB8-1911-4852-9A6A-2084A3BFB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01212-C294-46C7-8652-FC701E6FF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4C1BD-EA73-4268-88D6-941712984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2FDCD-3C63-40CF-8796-B95110F5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56834-A195-4259-B9A2-492AA3A5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27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36667-0E61-4412-9689-E912DCAB0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BB772-CE0D-4C61-B7EA-02F4A0F99A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D52C8-E569-4746-8381-72458C81F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6F6C0-3F92-4E96-8430-BCCE520D4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30DA0-88FD-4617-B3D3-D3E40A43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77496-3E88-46A9-ADEC-2756A826D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56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E09C-0785-4F55-8349-99E1E8417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11158-DFBD-406F-B7A0-85382E551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1B9E-BA99-4307-BBE8-7EBC81ABE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D450F-4A82-4810-850E-A6295FCB5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F155C-AECE-4099-8554-D29C46B71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4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F27FD0-ACCC-4C08-93F5-E2DC1626B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049ED-BD49-426B-AF4C-69C189E80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00929-4054-46D4-8828-46ED05EDF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1E174-2B83-4050-8766-E693B5D8A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B365-F81E-4481-A839-A30E28F6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27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690" y="456674"/>
            <a:ext cx="10380133" cy="864128"/>
          </a:xfrm>
          <a:prstGeom prst="rect">
            <a:avLst/>
          </a:prstGeom>
        </p:spPr>
        <p:txBody>
          <a:bodyPr vert="horz"/>
          <a:lstStyle>
            <a:lvl1pPr>
              <a:lnSpc>
                <a:spcPts val="3250"/>
              </a:lnSpc>
              <a:defRPr sz="3000" b="0" i="0" u="none" cap="all" baseline="0">
                <a:solidFill>
                  <a:srgbClr val="464544"/>
                </a:solidFill>
                <a:latin typeface="Helvetica"/>
                <a:cs typeface="Helvetica"/>
              </a:defRPr>
            </a:lvl1pPr>
          </a:lstStyle>
          <a:p>
            <a:pPr>
              <a:lnSpc>
                <a:spcPts val="3250"/>
              </a:lnSpc>
            </a:pPr>
            <a:r>
              <a:rPr lang="en-US" b="0" i="0" dirty="0"/>
              <a:t>TITLE HELVETICA REGULAR 30</a:t>
            </a:r>
            <a:br>
              <a:rPr lang="en-US" b="0" i="0" dirty="0"/>
            </a:br>
            <a:r>
              <a:rPr lang="en-US" b="0" i="0" dirty="0"/>
              <a:t>SECOND LINE</a:t>
            </a:r>
            <a:br>
              <a:rPr lang="en-US" b="0" i="0" dirty="0"/>
            </a:br>
            <a:endParaRPr lang="en-US" sz="3200" b="0" i="0" spc="140" baseline="0" dirty="0">
              <a:solidFill>
                <a:srgbClr val="3C3C3B"/>
              </a:solidFill>
              <a:latin typeface="Helvetica Neue"/>
              <a:cs typeface="Helvetica Neue"/>
            </a:endParaRP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71690" y="1490132"/>
            <a:ext cx="9719733" cy="146315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1" i="0" u="none" kern="1200" spc="140" baseline="0">
                <a:solidFill>
                  <a:srgbClr val="4A6A7E"/>
                </a:solidFill>
                <a:latin typeface="Helvetica Light"/>
                <a:cs typeface="Helvetica Light"/>
              </a:defRPr>
            </a:lvl1pPr>
          </a:lstStyle>
          <a:p>
            <a:r>
              <a:rPr lang="en-US" b="0" i="0" dirty="0"/>
              <a:t>Presenter’s Name is Helvetica Light 16 Point</a:t>
            </a:r>
          </a:p>
          <a:p>
            <a:r>
              <a:rPr lang="en-US" b="0" i="0" dirty="0"/>
              <a:t>Presenter’s Title</a:t>
            </a:r>
          </a:p>
          <a:p>
            <a:r>
              <a:rPr lang="en-US" dirty="0"/>
              <a:t>Month Day, Year</a:t>
            </a:r>
          </a:p>
          <a:p>
            <a:r>
              <a:rPr lang="en-US" b="0" i="0" dirty="0"/>
              <a:t>Location of Presentation (optional)</a:t>
            </a:r>
          </a:p>
        </p:txBody>
      </p:sp>
      <p:pic>
        <p:nvPicPr>
          <p:cNvPr id="4" name="title bar" descr="powerpoint headline bar_r.2.jpg"/>
          <p:cNvPicPr>
            <a:picLocks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56674"/>
            <a:ext cx="12192000" cy="875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8944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07EF5-3BD2-47B0-B432-6EF5F666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4342A-B71B-4C3F-9A12-180BE0AB7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D1BCC-7A96-408F-BA2E-FEAF398FC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F1584-7E2C-4234-8376-E6A90C7BE313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DFD50-53A4-4011-A1FF-B9EFAF9E7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A1CE3-8C89-4FBA-97D5-34624DEE5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/>
          </a:bodyPr>
          <a:lstStyle/>
          <a:p>
            <a:r>
              <a:rPr lang="en-US" b="1" dirty="0"/>
              <a:t> 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</a:rPr>
              <a:t>AeroMedical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Factors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2286000" lvl="5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A valid Medical Certificate is required to exercise the privileges</a:t>
            </a:r>
          </a:p>
          <a:p>
            <a:pPr marL="2286000" lvl="5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of most Airman Certificates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14 CFR 61.53</a:t>
            </a:r>
          </a:p>
          <a:p>
            <a:pPr marL="2286000" lvl="5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2286000" lvl="5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Pilots should be aware of certain Medical Factors</a:t>
            </a:r>
          </a:p>
          <a:p>
            <a:pPr marL="2286000" lvl="5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that may affect pilot performance while flying  		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PHAK 17-2</a:t>
            </a:r>
          </a:p>
          <a:p>
            <a:pPr marL="2286000" lvl="5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				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76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0C5F8F-6B99-47FB-A32E-9B110783C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17" y="1085850"/>
            <a:ext cx="7229475" cy="4686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6DF76A-5CE7-4F62-907F-2BA9F7D3B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308" y="1160890"/>
            <a:ext cx="3212817" cy="36896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803082" y="381663"/>
            <a:ext cx="6631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Medical Certificates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CE207B-1149-4591-A47C-E85F4C0F15A6}"/>
              </a:ext>
            </a:extLst>
          </p:cNvPr>
          <p:cNvSpPr txBox="1"/>
          <p:nvPr/>
        </p:nvSpPr>
        <p:spPr>
          <a:xfrm>
            <a:off x="8277308" y="5001370"/>
            <a:ext cx="32128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ATP 1</a:t>
            </a:r>
            <a:r>
              <a:rPr lang="en-US" sz="1400" baseline="30000" dirty="0"/>
              <a:t>st</a:t>
            </a:r>
            <a:r>
              <a:rPr lang="en-US" sz="1400" dirty="0"/>
              <a:t> Class</a:t>
            </a:r>
          </a:p>
          <a:p>
            <a:r>
              <a:rPr lang="en-US" sz="1400" dirty="0"/>
              <a:t>&lt; 40 </a:t>
            </a:r>
            <a:r>
              <a:rPr lang="en-US" sz="1400" dirty="0" err="1"/>
              <a:t>yrs</a:t>
            </a:r>
            <a:r>
              <a:rPr lang="en-US" sz="1400" dirty="0"/>
              <a:t> old – valid for 12 months</a:t>
            </a:r>
          </a:p>
          <a:p>
            <a:r>
              <a:rPr lang="en-US" sz="1400" dirty="0"/>
              <a:t>&gt; 40 </a:t>
            </a:r>
            <a:r>
              <a:rPr lang="en-US" sz="1400" dirty="0" err="1"/>
              <a:t>yrs</a:t>
            </a:r>
            <a:r>
              <a:rPr lang="en-US" sz="1400" dirty="0"/>
              <a:t> old – valid for 6 months</a:t>
            </a:r>
          </a:p>
        </p:txBody>
      </p:sp>
    </p:spTree>
    <p:extLst>
      <p:ext uri="{BB962C8B-B14F-4D97-AF65-F5344CB8AC3E}">
        <p14:creationId xmlns:p14="http://schemas.microsoft.com/office/powerpoint/2010/main" val="1757058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1D81CB-5076-4D15-B27A-CAAD566B9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323" y="1276350"/>
            <a:ext cx="6191250" cy="4305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956F9D-3750-4D93-8EB0-87258A000A54}"/>
              </a:ext>
            </a:extLst>
          </p:cNvPr>
          <p:cNvSpPr txBox="1"/>
          <p:nvPr/>
        </p:nvSpPr>
        <p:spPr>
          <a:xfrm>
            <a:off x="500932" y="381663"/>
            <a:ext cx="5923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Waiver to Physical Limitations</a:t>
            </a:r>
          </a:p>
        </p:txBody>
      </p:sp>
    </p:spTree>
    <p:extLst>
      <p:ext uri="{BB962C8B-B14F-4D97-AF65-F5344CB8AC3E}">
        <p14:creationId xmlns:p14="http://schemas.microsoft.com/office/powerpoint/2010/main" val="2950511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58CB00-FB62-431F-82A6-B95F5136A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398" y="407297"/>
            <a:ext cx="6852227" cy="589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696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1B69A9-584C-4045-A67C-E4E1578DA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307" y="412997"/>
            <a:ext cx="9235048" cy="603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240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B8CB98-4391-43A1-B7F2-A3423B89C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882" y="1036817"/>
            <a:ext cx="4810125" cy="4267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8BA291-8723-4106-8C86-9D5518485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57" y="1036817"/>
            <a:ext cx="7458075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999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8DF1D7-4777-4F36-8D13-8419AE9F7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118" y="583871"/>
            <a:ext cx="7959255" cy="592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910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B4AA0D-9ACD-41BD-BBA8-736CE4A04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625" y="591058"/>
            <a:ext cx="8185506" cy="597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874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742E73-72B2-49E9-A132-BF07A6514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241" y="625343"/>
            <a:ext cx="8158524" cy="578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721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72FABB-B2E3-4506-95CF-00C4C476E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238" y="1218694"/>
            <a:ext cx="6814268" cy="54703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E52BA5-E93D-44F1-A684-4EE874909AD3}"/>
              </a:ext>
            </a:extLst>
          </p:cNvPr>
          <p:cNvSpPr txBox="1"/>
          <p:nvPr/>
        </p:nvSpPr>
        <p:spPr>
          <a:xfrm>
            <a:off x="540689" y="389613"/>
            <a:ext cx="6535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Middle Ear and Sinus Problems</a:t>
            </a:r>
          </a:p>
        </p:txBody>
      </p:sp>
    </p:spTree>
    <p:extLst>
      <p:ext uri="{BB962C8B-B14F-4D97-AF65-F5344CB8AC3E}">
        <p14:creationId xmlns:p14="http://schemas.microsoft.com/office/powerpoint/2010/main" val="2398720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E52BA5-E93D-44F1-A684-4EE874909AD3}"/>
              </a:ext>
            </a:extLst>
          </p:cNvPr>
          <p:cNvSpPr txBox="1"/>
          <p:nvPr/>
        </p:nvSpPr>
        <p:spPr>
          <a:xfrm>
            <a:off x="540688" y="389612"/>
            <a:ext cx="11187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Spatial Disorientation and Illusions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56709-AFD3-41ED-B647-9FDE893C3EC8}"/>
              </a:ext>
            </a:extLst>
          </p:cNvPr>
          <p:cNvSpPr txBox="1"/>
          <p:nvPr/>
        </p:nvSpPr>
        <p:spPr>
          <a:xfrm>
            <a:off x="771278" y="1113183"/>
            <a:ext cx="11290852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Body uses three integrated systems that work together to</a:t>
            </a:r>
          </a:p>
          <a:p>
            <a:pPr lvl="1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ascertain orientation and movement in space:</a:t>
            </a:r>
          </a:p>
          <a:p>
            <a:endParaRPr lang="en-US" sz="2800" dirty="0"/>
          </a:p>
          <a:p>
            <a:pPr marL="1885950" lvl="3" indent="-514350">
              <a:buFont typeface="+mj-lt"/>
              <a:buAutoNum type="arabicPeriod"/>
            </a:pPr>
            <a:r>
              <a:rPr lang="en-US" sz="2400" dirty="0"/>
              <a:t>Vestibular System</a:t>
            </a:r>
          </a:p>
          <a:p>
            <a:pPr lvl="4"/>
            <a:r>
              <a:rPr lang="en-US" sz="2400" dirty="0"/>
              <a:t>	- organs found in the inner ear</a:t>
            </a:r>
          </a:p>
          <a:p>
            <a:pPr lvl="4"/>
            <a:r>
              <a:rPr lang="en-US" sz="2400" dirty="0"/>
              <a:t>	- sense position from </a:t>
            </a:r>
            <a:r>
              <a:rPr lang="en-US" sz="2400" u="sng" dirty="0"/>
              <a:t>balance</a:t>
            </a:r>
          </a:p>
          <a:p>
            <a:pPr lvl="4"/>
            <a:endParaRPr lang="en-US" sz="2400" dirty="0"/>
          </a:p>
          <a:p>
            <a:pPr marL="1885950" lvl="3" indent="-514350">
              <a:buFont typeface="+mj-lt"/>
              <a:buAutoNum type="arabicPeriod"/>
            </a:pPr>
            <a:r>
              <a:rPr lang="en-US" sz="2400" dirty="0"/>
              <a:t>Somatosensory System</a:t>
            </a:r>
          </a:p>
          <a:p>
            <a:pPr lvl="4"/>
            <a:r>
              <a:rPr lang="en-US" sz="2400" dirty="0"/>
              <a:t>	- nerves, muscles, joints, hearing</a:t>
            </a:r>
          </a:p>
          <a:p>
            <a:pPr lvl="4"/>
            <a:r>
              <a:rPr lang="en-US" sz="2400" dirty="0"/>
              <a:t>	- sense position based on </a:t>
            </a:r>
            <a:r>
              <a:rPr lang="en-US" sz="2400" u="sng" dirty="0"/>
              <a:t>gravity, feeling, and sound </a:t>
            </a:r>
          </a:p>
          <a:p>
            <a:pPr lvl="4"/>
            <a:endParaRPr lang="en-US" sz="2400" dirty="0"/>
          </a:p>
          <a:p>
            <a:pPr marL="1885950" lvl="3" indent="-514350">
              <a:buFont typeface="+mj-lt"/>
              <a:buAutoNum type="arabicPeriod"/>
            </a:pPr>
            <a:r>
              <a:rPr lang="en-US" sz="2400" dirty="0"/>
              <a:t>Visual System</a:t>
            </a:r>
          </a:p>
          <a:p>
            <a:pPr lvl="4"/>
            <a:r>
              <a:rPr lang="en-US" sz="2400" dirty="0"/>
              <a:t>	- Eyes</a:t>
            </a:r>
          </a:p>
          <a:p>
            <a:pPr lvl="4"/>
            <a:r>
              <a:rPr lang="en-US" sz="2400" dirty="0"/>
              <a:t>	- sense position based on what is </a:t>
            </a:r>
            <a:r>
              <a:rPr lang="en-US" sz="2400" u="sng" dirty="0"/>
              <a:t>seen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23771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4EF325-F32B-4A5F-A154-1C443F64B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13" y="938254"/>
            <a:ext cx="12043388" cy="570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736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B472E6-D211-426F-8F51-43832206F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7" y="1326174"/>
            <a:ext cx="12085983" cy="420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298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51F0E3-8633-48A7-9187-B4A189439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6" y="116366"/>
            <a:ext cx="11990567" cy="662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45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1624B7-130E-40F6-8C85-6A3F3A5AD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756" y="542924"/>
            <a:ext cx="7319382" cy="6238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507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81A97A-E826-47B3-B73C-C83FBD1C9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24" y="847724"/>
            <a:ext cx="8221649" cy="584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939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7CB829-ED35-43B9-BAF7-DF590026C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4" y="249344"/>
            <a:ext cx="11992831" cy="635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862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72B7C5-B5A3-45A7-A427-DF99BBF39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68" y="238624"/>
            <a:ext cx="11974664" cy="661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000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A5487E-1E1C-4810-AA2B-18A0E66CBB4C}"/>
              </a:ext>
            </a:extLst>
          </p:cNvPr>
          <p:cNvSpPr txBox="1"/>
          <p:nvPr/>
        </p:nvSpPr>
        <p:spPr>
          <a:xfrm>
            <a:off x="4055164" y="1979875"/>
            <a:ext cx="607479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Motion Sickness</a:t>
            </a:r>
          </a:p>
          <a:p>
            <a:endParaRPr lang="en-US" sz="2400" dirty="0"/>
          </a:p>
          <a:p>
            <a:r>
              <a:rPr lang="en-US" sz="2400" dirty="0"/>
              <a:t>Carbon Monoxide Poisoning</a:t>
            </a:r>
          </a:p>
          <a:p>
            <a:endParaRPr lang="en-US" sz="2400" dirty="0"/>
          </a:p>
          <a:p>
            <a:r>
              <a:rPr lang="en-US" sz="2400" dirty="0"/>
              <a:t>Fatigue and Stress</a:t>
            </a:r>
          </a:p>
          <a:p>
            <a:endParaRPr lang="en-US" sz="2400" dirty="0"/>
          </a:p>
          <a:p>
            <a:r>
              <a:rPr lang="en-US" sz="2400" dirty="0"/>
              <a:t>Dehydration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				</a:t>
            </a:r>
            <a:r>
              <a:rPr lang="en-US" sz="1600" dirty="0"/>
              <a:t>PHAK 17-12</a:t>
            </a:r>
          </a:p>
        </p:txBody>
      </p:sp>
    </p:spTree>
    <p:extLst>
      <p:ext uri="{BB962C8B-B14F-4D97-AF65-F5344CB8AC3E}">
        <p14:creationId xmlns:p14="http://schemas.microsoft.com/office/powerpoint/2010/main" val="4181149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81DED1-88CF-483B-8348-A83B3BD5C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89" y="1263688"/>
            <a:ext cx="10947621" cy="53283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A5487E-1E1C-4810-AA2B-18A0E66CBB4C}"/>
              </a:ext>
            </a:extLst>
          </p:cNvPr>
          <p:cNvSpPr txBox="1"/>
          <p:nvPr/>
        </p:nvSpPr>
        <p:spPr>
          <a:xfrm>
            <a:off x="739471" y="540689"/>
            <a:ext cx="8332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Effects of alcohol &amp; drugs</a:t>
            </a:r>
          </a:p>
        </p:txBody>
      </p:sp>
    </p:spTree>
    <p:extLst>
      <p:ext uri="{BB962C8B-B14F-4D97-AF65-F5344CB8AC3E}">
        <p14:creationId xmlns:p14="http://schemas.microsoft.com/office/powerpoint/2010/main" val="1182794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81DED1-88CF-483B-8348-A83B3BD5C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22" y="73950"/>
            <a:ext cx="10804499" cy="52586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86ADE9-3B0B-434B-A950-43ED605F5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22" y="690557"/>
            <a:ext cx="10860158" cy="598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857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6B628B-7465-4CDC-9FDE-2FFD4AE64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605" y="1407546"/>
            <a:ext cx="6715125" cy="5219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804BAA-A9CD-4CD5-BE03-E2AC37322F2E}"/>
              </a:ext>
            </a:extLst>
          </p:cNvPr>
          <p:cNvSpPr txBox="1"/>
          <p:nvPr/>
        </p:nvSpPr>
        <p:spPr>
          <a:xfrm>
            <a:off x="596348" y="373711"/>
            <a:ext cx="9120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Effect of nitrogen excesses incurred during scuba diving</a:t>
            </a:r>
          </a:p>
        </p:txBody>
      </p:sp>
    </p:spTree>
    <p:extLst>
      <p:ext uri="{BB962C8B-B14F-4D97-AF65-F5344CB8AC3E}">
        <p14:creationId xmlns:p14="http://schemas.microsoft.com/office/powerpoint/2010/main" val="14453860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BCC884-63ED-4877-9F5C-094C36149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868" y="182739"/>
            <a:ext cx="9313096" cy="649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99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9469</TotalTime>
  <Words>111</Words>
  <Application>Microsoft Office PowerPoint</Application>
  <PresentationFormat>Widescreen</PresentationFormat>
  <Paragraphs>44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Helvetica</vt:lpstr>
      <vt:lpstr>Helvetica Light</vt:lpstr>
      <vt:lpstr>Helvetica Neue</vt:lpstr>
      <vt:lpstr>Office Theme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Randy Coulson</dc:creator>
  <cp:lastModifiedBy>NCP</cp:lastModifiedBy>
  <cp:revision>89</cp:revision>
  <cp:lastPrinted>2019-02-03T18:16:30Z</cp:lastPrinted>
  <dcterms:created xsi:type="dcterms:W3CDTF">2019-02-02T21:35:12Z</dcterms:created>
  <dcterms:modified xsi:type="dcterms:W3CDTF">2019-11-04T01:30:14Z</dcterms:modified>
</cp:coreProperties>
</file>