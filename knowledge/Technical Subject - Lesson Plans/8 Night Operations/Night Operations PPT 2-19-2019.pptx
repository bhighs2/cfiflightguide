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338" r:id="rId3"/>
    <p:sldId id="418" r:id="rId4"/>
    <p:sldId id="409" r:id="rId5"/>
    <p:sldId id="410" r:id="rId6"/>
    <p:sldId id="419" r:id="rId7"/>
    <p:sldId id="387" r:id="rId8"/>
    <p:sldId id="411" r:id="rId9"/>
    <p:sldId id="412" r:id="rId10"/>
    <p:sldId id="413" r:id="rId11"/>
    <p:sldId id="417" r:id="rId12"/>
  </p:sldIdLst>
  <p:sldSz cx="12192000" cy="6858000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BD3C9-A0FF-43CB-9068-1552A29AB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17982-55F6-49FA-8C98-537C5C62D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80E76-8306-4C38-83E7-3293636C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87BEF-A487-4A3F-ABE4-5315D95B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1723E-A384-43C0-8010-982FB628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2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34981-F7BB-4D13-B76D-0CA1465F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B6020-A522-407D-89A0-5AFFA67A4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A94E5-CE6D-4A9B-9AD1-453D8DA30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709D-68FD-4B02-8A60-3A5682DD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7CCC-E3F4-45B5-B947-62CB3BD00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60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1774-7BDD-4321-ACD0-E6120688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27C91-EC32-4972-BCC4-BEC51E3FB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0C2CD-DBBD-495F-9ABA-3874A2E4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64BF1-FF1D-46EA-827C-8395047D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18B94-07D6-4CDC-A56A-8AACA022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69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4F09E-3B9C-44DA-AC95-58CEFBCB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DB342-B547-41BF-8236-2B5E7A466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01368-EE7B-4C0E-BC57-7AFACB74B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45F44-4620-4B40-BE48-347ABE519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8EA6F-307B-426F-81DF-6C2BA1AA6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F1017-4476-4770-87FE-4CC9BF57C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90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C1BDD-C122-457F-A8A0-10E2F4FE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64018-34E0-4117-99CC-65F16A514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74F49-EB3C-4EA9-BDD9-482D43AFA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EEFAE-58BF-4867-8A7A-3DC64CD59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D6ADC6-6252-495A-B151-532831205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88D7D-284B-4515-9BC8-4862F87F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DE0B35-9F6A-45D6-95F1-F8F942A8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DED8F4-88E8-4817-9A38-99932889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5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539D4-67C4-4E1E-A6BA-0B37335C7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F32E73-45BC-4A8F-B2C6-07E8BE82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8D119-E599-4F0D-8D00-547498BB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4FBC5-AF27-4000-A088-C243B69A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8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9DD204-254B-4334-9E0E-952665361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118692-CCDA-4BC6-8368-E61836337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F5833-99C5-49B5-8DE8-3DCE03C00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8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B49C-EB84-4DA3-AE0A-01911B8B7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A8CB8-1911-4852-9A6A-2084A3BFB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01212-C294-46C7-8652-FC701E6FF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4C1BD-EA73-4268-88D6-941712984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2FDCD-3C63-40CF-8796-B95110F5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56834-A195-4259-B9A2-492AA3A5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27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36667-0E61-4412-9689-E912DCAB0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BB772-CE0D-4C61-B7EA-02F4A0F99A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D52C8-E569-4746-8381-72458C81F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6F6C0-3F92-4E96-8430-BCCE520D4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30DA0-88FD-4617-B3D3-D3E40A43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77496-3E88-46A9-ADEC-2756A826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56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E09C-0785-4F55-8349-99E1E841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11158-DFBD-406F-B7A0-85382E551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1B9E-BA99-4307-BBE8-7EBC81ABE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D450F-4A82-4810-850E-A6295FCB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F155C-AECE-4099-8554-D29C46B71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4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F27FD0-ACCC-4C08-93F5-E2DC1626B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049ED-BD49-426B-AF4C-69C189E80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00929-4054-46D4-8828-46ED05EDF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1E174-2B83-4050-8766-E693B5D8A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B365-F81E-4481-A839-A30E28F6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27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690" y="456674"/>
            <a:ext cx="10380133" cy="864128"/>
          </a:xfrm>
          <a:prstGeom prst="rect">
            <a:avLst/>
          </a:prstGeom>
        </p:spPr>
        <p:txBody>
          <a:bodyPr vert="horz"/>
          <a:lstStyle>
            <a:lvl1pPr>
              <a:lnSpc>
                <a:spcPts val="3250"/>
              </a:lnSpc>
              <a:defRPr sz="3000" b="0" i="0" u="none" cap="all" baseline="0">
                <a:solidFill>
                  <a:srgbClr val="464544"/>
                </a:solidFill>
                <a:latin typeface="Helvetica"/>
                <a:cs typeface="Helvetica"/>
              </a:defRPr>
            </a:lvl1pPr>
          </a:lstStyle>
          <a:p>
            <a:pPr>
              <a:lnSpc>
                <a:spcPts val="3250"/>
              </a:lnSpc>
            </a:pPr>
            <a:r>
              <a:rPr lang="en-US" b="0" i="0" dirty="0"/>
              <a:t>TITLE HELVETICA REGULAR 30</a:t>
            </a:r>
            <a:br>
              <a:rPr lang="en-US" b="0" i="0" dirty="0"/>
            </a:br>
            <a:r>
              <a:rPr lang="en-US" b="0" i="0" dirty="0"/>
              <a:t>SECOND LINE</a:t>
            </a:r>
            <a:br>
              <a:rPr lang="en-US" b="0" i="0" dirty="0"/>
            </a:br>
            <a:endParaRPr lang="en-US" sz="3200" b="0" i="0" spc="140" baseline="0" dirty="0">
              <a:solidFill>
                <a:srgbClr val="3C3C3B"/>
              </a:solidFill>
              <a:latin typeface="Helvetica Neue"/>
              <a:cs typeface="Helvetica Neue"/>
            </a:endParaRP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71690" y="1490132"/>
            <a:ext cx="9719733" cy="14631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1" i="0" u="none" kern="1200" spc="140" baseline="0">
                <a:solidFill>
                  <a:srgbClr val="4A6A7E"/>
                </a:solidFill>
                <a:latin typeface="Helvetica Light"/>
                <a:cs typeface="Helvetica Light"/>
              </a:defRPr>
            </a:lvl1pPr>
          </a:lstStyle>
          <a:p>
            <a:r>
              <a:rPr lang="en-US" b="0" i="0" dirty="0"/>
              <a:t>Presenter’s Name is Helvetica Light 16 Point</a:t>
            </a:r>
          </a:p>
          <a:p>
            <a:r>
              <a:rPr lang="en-US" b="0" i="0" dirty="0"/>
              <a:t>Presenter’s Title</a:t>
            </a:r>
          </a:p>
          <a:p>
            <a:r>
              <a:rPr lang="en-US" dirty="0"/>
              <a:t>Month Day, Year</a:t>
            </a:r>
          </a:p>
          <a:p>
            <a:r>
              <a:rPr lang="en-US" b="0" i="0" dirty="0"/>
              <a:t>Location of Presentation (optional)</a:t>
            </a:r>
          </a:p>
        </p:txBody>
      </p:sp>
      <p:pic>
        <p:nvPicPr>
          <p:cNvPr id="4" name="title bar" descr="powerpoint headline bar_r.2.jpg"/>
          <p:cNvPicPr>
            <a:picLocks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56674"/>
            <a:ext cx="12192000" cy="875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8944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07EF5-3BD2-47B0-B432-6EF5F666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4342A-B71B-4C3F-9A12-180BE0AB7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D1BCC-7A96-408F-BA2E-FEAF398FC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DFD50-53A4-4011-A1FF-B9EFAF9E7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A1CE3-8C89-4FBA-97D5-34624DEE5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/>
          </a:bodyPr>
          <a:lstStyle/>
          <a:p>
            <a:r>
              <a:rPr lang="en-US" b="1" dirty="0"/>
              <a:t> 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6" y="1391478"/>
            <a:ext cx="10534988" cy="4898004"/>
          </a:xfrm>
        </p:spPr>
        <p:txBody>
          <a:bodyPr>
            <a:normAutofit fontScale="92500" lnSpcReduction="10000"/>
          </a:bodyPr>
          <a:lstStyle/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Night Operations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1371600" lvl="3" indent="0">
              <a:buNone/>
            </a:pPr>
            <a:r>
              <a:rPr lang="en-US" u="sng" dirty="0"/>
              <a:t>Night</a:t>
            </a:r>
            <a:r>
              <a:rPr lang="en-US" dirty="0"/>
              <a:t> – definition</a:t>
            </a:r>
          </a:p>
          <a:p>
            <a:pPr lvl="3"/>
            <a:r>
              <a:rPr lang="en-US" dirty="0"/>
              <a:t>Time between the end of evening civil twilight (sunset) and the beginning of morning civil twilight (sunrise)  </a:t>
            </a:r>
            <a:r>
              <a:rPr lang="en-US" sz="1400" dirty="0"/>
              <a:t>AIM </a:t>
            </a:r>
            <a:r>
              <a:rPr lang="en-US" sz="1400" dirty="0" err="1"/>
              <a:t>pg</a:t>
            </a:r>
            <a:r>
              <a:rPr lang="en-US" sz="1400" dirty="0"/>
              <a:t> 7</a:t>
            </a:r>
          </a:p>
          <a:p>
            <a:pPr marL="1371600" lvl="3" indent="0">
              <a:buNone/>
            </a:pP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1371600" lvl="3" indent="0">
              <a:buNone/>
            </a:pPr>
            <a:r>
              <a:rPr lang="en-US" u="sng" dirty="0"/>
              <a:t>Night Flight</a:t>
            </a:r>
            <a:r>
              <a:rPr lang="en-US" dirty="0"/>
              <a:t>   begins one hour after sunset and ends one hour before sunrise</a:t>
            </a:r>
          </a:p>
          <a:p>
            <a:pPr marL="1371600" lvl="3" indent="0">
              <a:buNone/>
            </a:pPr>
            <a:endParaRPr lang="en-US" dirty="0"/>
          </a:p>
          <a:p>
            <a:pPr marL="1371600" lvl="3" indent="0">
              <a:buNone/>
            </a:pPr>
            <a:r>
              <a:rPr lang="en-US" u="sng" dirty="0"/>
              <a:t>Night Currency</a:t>
            </a:r>
            <a:r>
              <a:rPr lang="en-US" dirty="0"/>
              <a:t> </a:t>
            </a:r>
          </a:p>
          <a:p>
            <a:pPr marL="1371600" lvl="3" indent="0">
              <a:buNone/>
            </a:pPr>
            <a:r>
              <a:rPr lang="en-US" dirty="0"/>
              <a:t>		- no person shall act as PIC of an aircraft carrying passengers unless within</a:t>
            </a:r>
          </a:p>
          <a:p>
            <a:pPr marL="1371600" lvl="3" indent="0">
              <a:buNone/>
            </a:pPr>
            <a:r>
              <a:rPr lang="en-US" dirty="0"/>
              <a:t>		the preceding 90 days that person has made at least three takeoffs and three</a:t>
            </a:r>
          </a:p>
          <a:p>
            <a:pPr marL="1371600" lvl="3" indent="0">
              <a:buNone/>
            </a:pPr>
            <a:r>
              <a:rPr lang="en-US" dirty="0"/>
              <a:t>		landings to a full stop during the period of night flight defined above.  </a:t>
            </a:r>
            <a:r>
              <a:rPr lang="en-US" sz="1300" dirty="0"/>
              <a:t>FAR 61.57 (b)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		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76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803082" y="381663"/>
            <a:ext cx="6631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Night Vision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209454-7F44-486E-A422-217BA4504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434" y="904883"/>
            <a:ext cx="9236446" cy="567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58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238540" y="381663"/>
            <a:ext cx="2560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Night Blind Spot </a:t>
            </a:r>
            <a:endParaRPr lang="en-US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EA308F-2FFB-4C63-83FA-E98A78977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451" y="225940"/>
            <a:ext cx="5001675" cy="640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316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803082" y="381663"/>
            <a:ext cx="6631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Best Day Vision </a:t>
            </a:r>
            <a:r>
              <a:rPr lang="en-US" u="sng" dirty="0"/>
              <a:t>(Cones active)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F7A99-022E-4452-BBC9-3F8CA3A1B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781" y="1055907"/>
            <a:ext cx="7346591" cy="558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19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803082" y="381663"/>
            <a:ext cx="6631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Best Night Vision </a:t>
            </a:r>
            <a:r>
              <a:rPr lang="en-US" u="sng" dirty="0"/>
              <a:t>(Rods active)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9EA933-BC46-4509-88C9-C40012FA2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09" y="987411"/>
            <a:ext cx="7580367" cy="562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895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803082" y="381663"/>
            <a:ext cx="3951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Night Scanning Technique</a:t>
            </a:r>
            <a:endParaRPr lang="en-US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E4AE40-4D31-4EA8-96E2-77382B672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498" y="865352"/>
            <a:ext cx="10272166" cy="599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908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956F9D-3750-4D93-8EB0-87258A000A54}"/>
              </a:ext>
            </a:extLst>
          </p:cNvPr>
          <p:cNvSpPr txBox="1"/>
          <p:nvPr/>
        </p:nvSpPr>
        <p:spPr>
          <a:xfrm>
            <a:off x="500932" y="381663"/>
            <a:ext cx="5923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Night Illusions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9CEC6D-59EF-4E6C-A124-A7A4670B7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66" y="1299585"/>
            <a:ext cx="11691068" cy="457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11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956F9D-3750-4D93-8EB0-87258A000A54}"/>
              </a:ext>
            </a:extLst>
          </p:cNvPr>
          <p:cNvSpPr txBox="1"/>
          <p:nvPr/>
        </p:nvSpPr>
        <p:spPr>
          <a:xfrm>
            <a:off x="500932" y="381663"/>
            <a:ext cx="5923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Aircraft Position Lights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6870D3-3E6F-4ECD-8719-4FF61540F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174" y="985734"/>
            <a:ext cx="6322530" cy="564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941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956F9D-3750-4D93-8EB0-87258A000A54}"/>
              </a:ext>
            </a:extLst>
          </p:cNvPr>
          <p:cNvSpPr txBox="1"/>
          <p:nvPr/>
        </p:nvSpPr>
        <p:spPr>
          <a:xfrm>
            <a:off x="500932" y="381663"/>
            <a:ext cx="59237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/>
              <a:t>Using light patterns for orientation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914D68-248B-47AE-929C-C17DF5647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047" y="154313"/>
            <a:ext cx="5980243" cy="654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394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956F9D-3750-4D93-8EB0-87258A000A54}"/>
              </a:ext>
            </a:extLst>
          </p:cNvPr>
          <p:cNvSpPr txBox="1"/>
          <p:nvPr/>
        </p:nvSpPr>
        <p:spPr>
          <a:xfrm>
            <a:off x="500932" y="381663"/>
            <a:ext cx="59237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/>
              <a:t>2 Bar </a:t>
            </a:r>
            <a:r>
              <a:rPr lang="en-US" sz="2000" u="sng" dirty="0" err="1"/>
              <a:t>Vasi</a:t>
            </a:r>
            <a:endParaRPr lang="en-US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508E87-B359-4CF2-A3C6-9B6A411C3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900" y="205056"/>
            <a:ext cx="6782587" cy="644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051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956F9D-3750-4D93-8EB0-87258A000A54}"/>
              </a:ext>
            </a:extLst>
          </p:cNvPr>
          <p:cNvSpPr txBox="1"/>
          <p:nvPr/>
        </p:nvSpPr>
        <p:spPr>
          <a:xfrm>
            <a:off x="500932" y="381663"/>
            <a:ext cx="5923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412102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9667</TotalTime>
  <Words>81</Words>
  <Application>Microsoft Office PowerPoint</Application>
  <PresentationFormat>Widescreen</PresentationFormat>
  <Paragraphs>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Helvetica</vt:lpstr>
      <vt:lpstr>Helvetica Light</vt:lpstr>
      <vt:lpstr>Helvetica Neue</vt:lpstr>
      <vt:lpstr>Office Theme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Randy Coulson</dc:creator>
  <cp:lastModifiedBy>Randy Coulson</cp:lastModifiedBy>
  <cp:revision>97</cp:revision>
  <cp:lastPrinted>2019-02-11T17:54:23Z</cp:lastPrinted>
  <dcterms:created xsi:type="dcterms:W3CDTF">2019-02-02T21:35:12Z</dcterms:created>
  <dcterms:modified xsi:type="dcterms:W3CDTF">2019-02-19T19:55:15Z</dcterms:modified>
</cp:coreProperties>
</file>