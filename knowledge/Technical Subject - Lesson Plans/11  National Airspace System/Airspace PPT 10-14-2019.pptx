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38" r:id="rId3"/>
    <p:sldId id="326" r:id="rId4"/>
    <p:sldId id="323" r:id="rId5"/>
    <p:sldId id="325" r:id="rId6"/>
    <p:sldId id="327" r:id="rId7"/>
    <p:sldId id="339" r:id="rId8"/>
    <p:sldId id="329" r:id="rId9"/>
    <p:sldId id="328" r:id="rId10"/>
    <p:sldId id="332" r:id="rId11"/>
    <p:sldId id="343" r:id="rId12"/>
    <p:sldId id="334" r:id="rId13"/>
    <p:sldId id="335" r:id="rId14"/>
    <p:sldId id="336" r:id="rId15"/>
    <p:sldId id="337" r:id="rId16"/>
    <p:sldId id="344" r:id="rId17"/>
    <p:sldId id="350" r:id="rId18"/>
    <p:sldId id="352" r:id="rId19"/>
    <p:sldId id="345" r:id="rId20"/>
    <p:sldId id="346" r:id="rId21"/>
    <p:sldId id="340" r:id="rId22"/>
    <p:sldId id="353" r:id="rId23"/>
    <p:sldId id="348" r:id="rId24"/>
    <p:sldId id="357" r:id="rId25"/>
    <p:sldId id="358" r:id="rId26"/>
    <p:sldId id="356" r:id="rId27"/>
    <p:sldId id="351" r:id="rId28"/>
    <p:sldId id="342" r:id="rId29"/>
    <p:sldId id="355" r:id="rId30"/>
    <p:sldId id="354" r:id="rId31"/>
    <p:sldId id="359" r:id="rId32"/>
    <p:sldId id="364" r:id="rId33"/>
    <p:sldId id="366" r:id="rId34"/>
    <p:sldId id="371" r:id="rId35"/>
    <p:sldId id="368" r:id="rId36"/>
    <p:sldId id="369" r:id="rId37"/>
    <p:sldId id="362" r:id="rId38"/>
    <p:sldId id="360" r:id="rId39"/>
    <p:sldId id="361" r:id="rId40"/>
    <p:sldId id="363" r:id="rId41"/>
    <p:sldId id="365" r:id="rId42"/>
    <p:sldId id="370" r:id="rId43"/>
    <p:sldId id="373" r:id="rId44"/>
    <p:sldId id="374" r:id="rId45"/>
    <p:sldId id="376" r:id="rId46"/>
    <p:sldId id="377" r:id="rId47"/>
    <p:sldId id="330" r:id="rId48"/>
    <p:sldId id="385" r:id="rId49"/>
    <p:sldId id="386" r:id="rId50"/>
    <p:sldId id="375" r:id="rId51"/>
    <p:sldId id="378" r:id="rId52"/>
    <p:sldId id="379" r:id="rId53"/>
    <p:sldId id="380" r:id="rId54"/>
    <p:sldId id="381" r:id="rId55"/>
    <p:sldId id="387" r:id="rId56"/>
    <p:sldId id="382" r:id="rId57"/>
    <p:sldId id="383" r:id="rId58"/>
    <p:sldId id="256" r:id="rId59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Airspace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2286000" lvl="5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Categories and types of airspace are dictated by:</a:t>
            </a:r>
          </a:p>
          <a:p>
            <a:pPr marL="2286000" lvl="5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complexity or density of aircraft operations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nature of the operations conducted within the airspace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level of safety required</a:t>
            </a:r>
          </a:p>
          <a:p>
            <a:pPr lvl="5"/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The national and public interest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87B0B5-3722-4513-8E96-A2B2D80A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4776"/>
            <a:ext cx="12192000" cy="50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Four (4) Airspace Designations: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1. Controlled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2. Uncontrolled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			3. Special Use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 					4. “Other” Types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62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pPr algn="ctr"/>
            <a:endParaRPr lang="en-US" sz="2800" b="0" dirty="0"/>
          </a:p>
          <a:p>
            <a:pPr algn="ctr"/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Specific Types within the 4 Designations</a:t>
            </a:r>
          </a:p>
          <a:p>
            <a:pPr algn="ctr"/>
            <a:endParaRPr lang="en-US" sz="2800" dirty="0"/>
          </a:p>
          <a:p>
            <a:pPr lvl="7"/>
            <a:r>
              <a:rPr lang="en-US" sz="3000" dirty="0"/>
              <a:t> Controlled</a:t>
            </a:r>
            <a:r>
              <a:rPr lang="en-US" sz="3000" b="0" dirty="0"/>
              <a:t>:	 Class A, B, C, D, E</a:t>
            </a:r>
          </a:p>
          <a:p>
            <a:pPr lvl="7"/>
            <a:r>
              <a:rPr lang="en-US" sz="3000" dirty="0"/>
              <a:t> Uncontrolled</a:t>
            </a:r>
            <a:r>
              <a:rPr lang="en-US" sz="3000" b="0" dirty="0"/>
              <a:t>:	 Class G</a:t>
            </a:r>
          </a:p>
          <a:p>
            <a:pPr lvl="7"/>
            <a:r>
              <a:rPr lang="en-US" sz="3000" dirty="0"/>
              <a:t>  Special Use</a:t>
            </a:r>
          </a:p>
          <a:p>
            <a:pPr lvl="7"/>
            <a:r>
              <a:rPr lang="en-US" sz="3000" dirty="0"/>
              <a:t>  “</a:t>
            </a:r>
            <a:r>
              <a:rPr lang="en-US" sz="3000" dirty="0" err="1"/>
              <a:t>Other”Types</a:t>
            </a:r>
            <a:endParaRPr lang="en-US" sz="3000" dirty="0"/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456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/>
          </a:bodyPr>
          <a:lstStyle/>
          <a:p>
            <a:pPr algn="ctr"/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A simple memory aid guide to the 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Alphabet </a:t>
            </a:r>
            <a:r>
              <a:rPr lang="en-US" sz="2600" dirty="0">
                <a:solidFill>
                  <a:schemeClr val="accent1">
                    <a:lumMod val="75000"/>
                  </a:schemeClr>
                </a:solidFill>
              </a:rPr>
              <a:t>Airspace of the United States:</a:t>
            </a:r>
          </a:p>
          <a:p>
            <a:pPr>
              <a:lnSpc>
                <a:spcPct val="160000"/>
              </a:lnSpc>
            </a:pPr>
            <a:endParaRPr lang="en-US" b="0" dirty="0"/>
          </a:p>
          <a:p>
            <a:pPr>
              <a:lnSpc>
                <a:spcPct val="160000"/>
              </a:lnSpc>
            </a:pPr>
            <a:r>
              <a:rPr lang="en-US" b="0" dirty="0"/>
              <a:t>		</a:t>
            </a:r>
            <a:r>
              <a:rPr lang="en-US" sz="2100" dirty="0">
                <a:solidFill>
                  <a:schemeClr val="tx1"/>
                </a:solidFill>
              </a:rPr>
              <a:t>Class A Airspace:	 “</a:t>
            </a:r>
            <a:r>
              <a:rPr lang="en-US" sz="2100" u="sng" dirty="0">
                <a:solidFill>
                  <a:schemeClr val="tx1"/>
                </a:solidFill>
              </a:rPr>
              <a:t>A</a:t>
            </a:r>
            <a:r>
              <a:rPr lang="en-US" sz="2100" dirty="0">
                <a:solidFill>
                  <a:schemeClr val="tx1"/>
                </a:solidFill>
              </a:rPr>
              <a:t>” is for high “</a:t>
            </a:r>
            <a:r>
              <a:rPr lang="en-US" sz="2100" dirty="0" err="1">
                <a:solidFill>
                  <a:schemeClr val="tx1"/>
                </a:solidFill>
              </a:rPr>
              <a:t>A”ltitude</a:t>
            </a:r>
            <a:r>
              <a:rPr lang="en-US" sz="2100" dirty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B Airspace:	 “</a:t>
            </a:r>
            <a:r>
              <a:rPr lang="en-US" sz="2100" u="sng" dirty="0">
                <a:solidFill>
                  <a:schemeClr val="tx1"/>
                </a:solidFill>
              </a:rPr>
              <a:t>B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B”ig</a:t>
            </a:r>
            <a:r>
              <a:rPr lang="en-US" sz="2100" dirty="0">
                <a:solidFill>
                  <a:schemeClr val="tx1"/>
                </a:solidFill>
              </a:rPr>
              <a:t> Jets or “</a:t>
            </a:r>
            <a:r>
              <a:rPr lang="en-US" sz="2100" dirty="0" err="1">
                <a:solidFill>
                  <a:schemeClr val="tx1"/>
                </a:solidFill>
              </a:rPr>
              <a:t>B”ig</a:t>
            </a:r>
            <a:r>
              <a:rPr lang="en-US" sz="2100" dirty="0">
                <a:solidFill>
                  <a:schemeClr val="tx1"/>
                </a:solidFill>
              </a:rPr>
              <a:t> Cities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C Airspace:	 “</a:t>
            </a:r>
            <a:r>
              <a:rPr lang="en-US" sz="2100" u="sng" dirty="0">
                <a:solidFill>
                  <a:schemeClr val="tx1"/>
                </a:solidFill>
              </a:rPr>
              <a:t>C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C”ommuter</a:t>
            </a:r>
            <a:r>
              <a:rPr lang="en-US" sz="2100" dirty="0">
                <a:solidFill>
                  <a:schemeClr val="tx1"/>
                </a:solidFill>
              </a:rPr>
              <a:t> Jets or “</a:t>
            </a:r>
            <a:r>
              <a:rPr lang="en-US" sz="2100" dirty="0" err="1">
                <a:solidFill>
                  <a:schemeClr val="tx1"/>
                </a:solidFill>
              </a:rPr>
              <a:t>C”orporate</a:t>
            </a:r>
            <a:r>
              <a:rPr lang="en-US" sz="2100" dirty="0">
                <a:solidFill>
                  <a:schemeClr val="tx1"/>
                </a:solidFill>
              </a:rPr>
              <a:t> Jets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D Airspace: 	“</a:t>
            </a:r>
            <a:r>
              <a:rPr lang="en-US" sz="2100" u="sng" dirty="0">
                <a:solidFill>
                  <a:schemeClr val="tx1"/>
                </a:solidFill>
              </a:rPr>
              <a:t>D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D”ialogue</a:t>
            </a:r>
            <a:r>
              <a:rPr lang="en-US" sz="2100" dirty="0">
                <a:solidFill>
                  <a:schemeClr val="tx1"/>
                </a:solidFill>
              </a:rPr>
              <a:t> with the Control Tower</a:t>
            </a: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E Airspace:	 “</a:t>
            </a:r>
            <a:r>
              <a:rPr lang="en-US" sz="2100" u="sng" dirty="0">
                <a:solidFill>
                  <a:schemeClr val="tx1"/>
                </a:solidFill>
              </a:rPr>
              <a:t>E</a:t>
            </a:r>
            <a:r>
              <a:rPr lang="en-US" sz="2100" dirty="0">
                <a:solidFill>
                  <a:schemeClr val="tx1"/>
                </a:solidFill>
              </a:rPr>
              <a:t>” is for “</a:t>
            </a:r>
            <a:r>
              <a:rPr lang="en-US" sz="2100" dirty="0" err="1">
                <a:solidFill>
                  <a:schemeClr val="tx1"/>
                </a:solidFill>
              </a:rPr>
              <a:t>E”lsewhere</a:t>
            </a:r>
            <a:endParaRPr lang="en-US" sz="2100" dirty="0">
              <a:solidFill>
                <a:schemeClr val="tx1"/>
              </a:solidFill>
            </a:endParaRPr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chemeClr val="tx1"/>
                </a:solidFill>
              </a:rPr>
              <a:t>		Class G Airspace:	 “</a:t>
            </a:r>
            <a:r>
              <a:rPr lang="en-US" sz="2100" u="sng" dirty="0">
                <a:solidFill>
                  <a:schemeClr val="tx1"/>
                </a:solidFill>
              </a:rPr>
              <a:t>G</a:t>
            </a:r>
            <a:r>
              <a:rPr lang="en-US" sz="2100" dirty="0">
                <a:solidFill>
                  <a:schemeClr val="tx1"/>
                </a:solidFill>
              </a:rPr>
              <a:t>” for “</a:t>
            </a:r>
            <a:r>
              <a:rPr lang="en-US" sz="2100" dirty="0" err="1">
                <a:solidFill>
                  <a:schemeClr val="tx1"/>
                </a:solidFill>
              </a:rPr>
              <a:t>G”round</a:t>
            </a:r>
            <a:r>
              <a:rPr lang="en-US" sz="2100" dirty="0">
                <a:solidFill>
                  <a:schemeClr val="tx1"/>
                </a:solidFill>
              </a:rPr>
              <a:t> level </a:t>
            </a:r>
            <a:r>
              <a:rPr lang="en-US" sz="2100" dirty="0"/>
              <a:t>		</a:t>
            </a:r>
          </a:p>
          <a:p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4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526650"/>
            <a:ext cx="11282901" cy="5104738"/>
          </a:xfrm>
        </p:spPr>
        <p:txBody>
          <a:bodyPr>
            <a:normAutofit/>
          </a:bodyPr>
          <a:lstStyle/>
          <a:p>
            <a:pPr algn="ctr"/>
            <a:r>
              <a:rPr lang="en-US" sz="1200" dirty="0">
                <a:solidFill>
                  <a:srgbClr val="FF0000"/>
                </a:solidFill>
              </a:rPr>
              <a:t>Class E Airspace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--------------------------------------FL 600 (i.e. 60,000 ft </a:t>
            </a:r>
            <a:r>
              <a:rPr lang="en-US" sz="1400" dirty="0">
                <a:solidFill>
                  <a:schemeClr val="tx1"/>
                </a:solidFill>
              </a:rPr>
              <a:t>MSL</a:t>
            </a:r>
            <a:r>
              <a:rPr lang="en-US" sz="2000" dirty="0">
                <a:solidFill>
                  <a:schemeClr val="tx1"/>
                </a:solidFill>
              </a:rPr>
              <a:t>)--------------------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Class A Airspace</a:t>
            </a:r>
          </a:p>
          <a:p>
            <a:pPr algn="ctr"/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--------------------------------------FL 180 (i.e. 18, 000 </a:t>
            </a:r>
            <a:r>
              <a:rPr lang="en-US" sz="1400" dirty="0">
                <a:solidFill>
                  <a:schemeClr val="tx1"/>
                </a:solidFill>
              </a:rPr>
              <a:t>MSL</a:t>
            </a:r>
            <a:r>
              <a:rPr lang="en-US" sz="2000" dirty="0">
                <a:solidFill>
                  <a:schemeClr val="tx1"/>
                </a:solidFill>
              </a:rPr>
              <a:t>)----------------------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--------------------------------------Earth Surface------------------------------------</a:t>
            </a:r>
          </a:p>
          <a:p>
            <a:r>
              <a:rPr lang="en-US" sz="1800" u="sng" dirty="0">
                <a:solidFill>
                  <a:schemeClr val="tx1"/>
                </a:solidFill>
              </a:rPr>
              <a:t>Operation Requirements for Class A Airspace</a:t>
            </a:r>
          </a:p>
          <a:p>
            <a:r>
              <a:rPr lang="en-US" sz="1800" dirty="0">
                <a:solidFill>
                  <a:schemeClr val="tx1"/>
                </a:solidFill>
              </a:rPr>
              <a:t>1) Pilot must be Instrument Rated</a:t>
            </a:r>
          </a:p>
          <a:p>
            <a:r>
              <a:rPr lang="en-US" sz="1800" dirty="0">
                <a:solidFill>
                  <a:schemeClr val="tx1"/>
                </a:solidFill>
              </a:rPr>
              <a:t>2) Aircraft must be equipped for IFR</a:t>
            </a:r>
          </a:p>
          <a:p>
            <a:r>
              <a:rPr lang="en-US" sz="1800" dirty="0">
                <a:solidFill>
                  <a:schemeClr val="tx1"/>
                </a:solidFill>
              </a:rPr>
              <a:t>3) Flight must be cleared on an IFR Flight Plan</a:t>
            </a:r>
          </a:p>
          <a:p>
            <a:r>
              <a:rPr lang="en-US" sz="1800" dirty="0">
                <a:solidFill>
                  <a:schemeClr val="tx1"/>
                </a:solidFill>
              </a:rPr>
              <a:t>4) All Aircraft set Altimeters to 29.92”</a:t>
            </a:r>
          </a:p>
        </p:txBody>
      </p:sp>
    </p:spTree>
    <p:extLst>
      <p:ext uri="{BB962C8B-B14F-4D97-AF65-F5344CB8AC3E}">
        <p14:creationId xmlns:p14="http://schemas.microsoft.com/office/powerpoint/2010/main" val="418835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D97387-558E-48CA-A6A8-3A0CE36E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333232"/>
            <a:ext cx="7362908" cy="61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00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B (Bravo)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lnSpcReduction="1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B Airspace</a:t>
            </a:r>
          </a:p>
          <a:p>
            <a:endParaRPr lang="en-US" sz="3200" b="0" dirty="0"/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is depicted on the charts by solid blue concentric rings</a:t>
            </a:r>
          </a:p>
          <a:p>
            <a:pPr lvl="3" indent="0">
              <a:buNone/>
            </a:pPr>
            <a:r>
              <a:rPr lang="en-US" sz="3000" dirty="0"/>
              <a:t>		</a:t>
            </a:r>
            <a:r>
              <a:rPr lang="en-US" sz="3000" dirty="0">
                <a:solidFill>
                  <a:schemeClr val="tx1"/>
                </a:solidFill>
              </a:rPr>
              <a:t> (</a:t>
            </a:r>
            <a:r>
              <a:rPr lang="en-US" sz="3000" dirty="0" err="1">
                <a:solidFill>
                  <a:schemeClr val="tx1"/>
                </a:solidFill>
              </a:rPr>
              <a:t>eg.</a:t>
            </a:r>
            <a:r>
              <a:rPr lang="en-US" sz="3000" dirty="0">
                <a:solidFill>
                  <a:schemeClr val="tx1"/>
                </a:solidFill>
              </a:rPr>
              <a:t> IAH)</a:t>
            </a:r>
          </a:p>
          <a:p>
            <a:pPr lvl="3" indent="0">
              <a:buNone/>
            </a:pPr>
            <a:endParaRPr lang="en-US" sz="3000" dirty="0">
              <a:solidFill>
                <a:schemeClr val="tx1"/>
              </a:solidFill>
            </a:endParaRPr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Shape of each site is individually designed.</a:t>
            </a:r>
          </a:p>
          <a:p>
            <a:pPr lvl="3" indent="0">
              <a:buNone/>
            </a:pPr>
            <a:r>
              <a:rPr lang="en-US" sz="3000" dirty="0">
                <a:solidFill>
                  <a:schemeClr val="tx1"/>
                </a:solidFill>
              </a:rPr>
              <a:t>		</a:t>
            </a:r>
          </a:p>
          <a:p>
            <a:pPr marL="2057400" lvl="3" indent="-457200"/>
            <a:r>
              <a:rPr lang="en-US" sz="3000" dirty="0">
                <a:solidFill>
                  <a:schemeClr val="tx1"/>
                </a:solidFill>
              </a:rPr>
              <a:t>Vertically, the airspace is shaped much like an upside down </a:t>
            </a:r>
            <a:r>
              <a:rPr lang="en-US" sz="3000" i="1" dirty="0">
                <a:solidFill>
                  <a:schemeClr val="tx1"/>
                </a:solidFill>
              </a:rPr>
              <a:t>wedding cake</a:t>
            </a:r>
            <a:r>
              <a:rPr lang="en-US" sz="3000" dirty="0">
                <a:solidFill>
                  <a:schemeClr val="tx1"/>
                </a:solidFill>
              </a:rPr>
              <a:t>, with sectors affecting specific altitudes.</a:t>
            </a:r>
          </a:p>
        </p:txBody>
      </p:sp>
    </p:spTree>
    <p:extLst>
      <p:ext uri="{BB962C8B-B14F-4D97-AF65-F5344CB8AC3E}">
        <p14:creationId xmlns:p14="http://schemas.microsoft.com/office/powerpoint/2010/main" val="205232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B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85678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B Airspace:</a:t>
            </a:r>
          </a:p>
          <a:p>
            <a:r>
              <a:rPr lang="en-US" sz="2000" dirty="0">
                <a:solidFill>
                  <a:schemeClr val="tx1"/>
                </a:solidFill>
              </a:rPr>
              <a:t>	1) Typically surface to 10,000’ MSL surrounding the busiest airports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2) The Pilot must be authorized to Enter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(You must hear ATC say “NXXXXX is cleared into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3) All aircraft operating within 30 nm of the Primary Airport must have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an operable Mode C Transponder. </a:t>
            </a:r>
            <a:r>
              <a:rPr lang="en-US" sz="1400" dirty="0">
                <a:solidFill>
                  <a:schemeClr val="tx1"/>
                </a:solidFill>
              </a:rPr>
              <a:t>(under or over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4) VFR Pilots must comply with Part 91 Visibility and Cloud Clearance 				Requirements.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3 Miles Visibility and Operate Clear of Clouds)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5) The pilot must be a certificated Private Pilot or an </a:t>
            </a:r>
            <a:r>
              <a:rPr lang="en-US" sz="2000" i="1" u="sng" dirty="0">
                <a:solidFill>
                  <a:schemeClr val="tx1"/>
                </a:solidFill>
              </a:rPr>
              <a:t>appropriately endorsed </a:t>
            </a:r>
            <a:r>
              <a:rPr lang="en-US" sz="2000" i="1" dirty="0">
                <a:solidFill>
                  <a:schemeClr val="tx1"/>
                </a:solidFill>
              </a:rPr>
              <a:t>			</a:t>
            </a:r>
            <a:r>
              <a:rPr lang="en-US" sz="2000" dirty="0">
                <a:solidFill>
                  <a:schemeClr val="tx1"/>
                </a:solidFill>
              </a:rPr>
              <a:t>Student Pilot.  Some Class B Airports prohibit Student Pilot Operations, 			(see the AIM </a:t>
            </a:r>
            <a:r>
              <a:rPr lang="en-US" sz="1200" dirty="0">
                <a:solidFill>
                  <a:schemeClr val="tx1"/>
                </a:solidFill>
              </a:rPr>
              <a:t>(appendix D.4 for part 91, </a:t>
            </a:r>
            <a:r>
              <a:rPr lang="en-US" sz="1200" dirty="0" err="1">
                <a:solidFill>
                  <a:schemeClr val="tx1"/>
                </a:solidFill>
              </a:rPr>
              <a:t>pg</a:t>
            </a:r>
            <a:r>
              <a:rPr lang="en-US" sz="1200" dirty="0">
                <a:solidFill>
                  <a:schemeClr val="tx1"/>
                </a:solidFill>
              </a:rPr>
              <a:t> 294)</a:t>
            </a:r>
            <a:r>
              <a:rPr lang="en-US" sz="2000" dirty="0">
                <a:solidFill>
                  <a:schemeClr val="tx1"/>
                </a:solidFill>
              </a:rPr>
              <a:t> for a listing of these.)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6) IFR Operations require an operating VOR receiver or suitable RNAV system</a:t>
            </a:r>
          </a:p>
        </p:txBody>
      </p:sp>
    </p:spTree>
    <p:extLst>
      <p:ext uri="{BB962C8B-B14F-4D97-AF65-F5344CB8AC3E}">
        <p14:creationId xmlns:p14="http://schemas.microsoft.com/office/powerpoint/2010/main" val="2428704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2F78E2-C8A8-4608-A230-2A5E69711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034" y="189689"/>
            <a:ext cx="9901627" cy="64786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5E4871-5947-4724-9D39-ABCABB2C2098}"/>
              </a:ext>
            </a:extLst>
          </p:cNvPr>
          <p:cNvSpPr/>
          <p:nvPr/>
        </p:nvSpPr>
        <p:spPr>
          <a:xfrm>
            <a:off x="86790" y="476657"/>
            <a:ext cx="194629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u="sng" dirty="0"/>
              <a:t>Sector Altitudes</a:t>
            </a:r>
          </a:p>
          <a:p>
            <a:endParaRPr lang="en-US" sz="1600" u="sng" dirty="0"/>
          </a:p>
          <a:p>
            <a:r>
              <a:rPr lang="en-US" sz="1600" u="sng" dirty="0"/>
              <a:t>100</a:t>
            </a:r>
            <a:r>
              <a:rPr lang="en-US" sz="1600" dirty="0"/>
              <a:t>   Top of Sector</a:t>
            </a:r>
            <a:endParaRPr lang="en-US" sz="1600" u="sng" dirty="0"/>
          </a:p>
          <a:p>
            <a:r>
              <a:rPr lang="en-US" sz="1600" dirty="0"/>
              <a:t>SFC    Base of Sector  </a:t>
            </a:r>
          </a:p>
          <a:p>
            <a:endParaRPr lang="en-US" sz="1600" dirty="0"/>
          </a:p>
          <a:p>
            <a:r>
              <a:rPr lang="en-US" sz="1600" u="sng" dirty="0"/>
              <a:t>100</a:t>
            </a:r>
            <a:r>
              <a:rPr lang="en-US" sz="1600" dirty="0"/>
              <a:t>   Top of Sector</a:t>
            </a:r>
            <a:endParaRPr lang="en-US" sz="1600" u="sng" dirty="0"/>
          </a:p>
          <a:p>
            <a:r>
              <a:rPr lang="en-US" sz="1600" dirty="0"/>
              <a:t> 20     Base of Sector  </a:t>
            </a:r>
          </a:p>
        </p:txBody>
      </p:sp>
    </p:spTree>
    <p:extLst>
      <p:ext uri="{BB962C8B-B14F-4D97-AF65-F5344CB8AC3E}">
        <p14:creationId xmlns:p14="http://schemas.microsoft.com/office/powerpoint/2010/main" val="192788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1A3460-86A7-48B5-B9B9-F916E044D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538" y="503448"/>
            <a:ext cx="6653688" cy="585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28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C (Charlie)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C Airspace</a:t>
            </a:r>
          </a:p>
          <a:p>
            <a:r>
              <a:rPr lang="en-US" sz="3200" b="0" dirty="0"/>
              <a:t>		</a:t>
            </a:r>
            <a:r>
              <a:rPr lang="en-US" sz="3200" dirty="0">
                <a:solidFill>
                  <a:schemeClr val="tx1"/>
                </a:solidFill>
              </a:rPr>
              <a:t>- </a:t>
            </a:r>
            <a:r>
              <a:rPr lang="en-US" sz="3000" dirty="0">
                <a:solidFill>
                  <a:schemeClr val="tx1"/>
                </a:solidFill>
              </a:rPr>
              <a:t>surrounding airport with operational control tower 			  and serviced by radar approach control </a:t>
            </a:r>
          </a:p>
          <a:p>
            <a:r>
              <a:rPr lang="en-US" sz="3000" dirty="0">
                <a:solidFill>
                  <a:schemeClr val="tx1"/>
                </a:solidFill>
              </a:rPr>
              <a:t>		- is depicted by two solid magenta rings (</a:t>
            </a:r>
            <a:r>
              <a:rPr lang="en-US" sz="3000" dirty="0" err="1">
                <a:solidFill>
                  <a:schemeClr val="tx1"/>
                </a:solidFill>
              </a:rPr>
              <a:t>eg.</a:t>
            </a:r>
            <a:r>
              <a:rPr lang="en-US" sz="3000" dirty="0">
                <a:solidFill>
                  <a:schemeClr val="tx1"/>
                </a:solidFill>
              </a:rPr>
              <a:t> SAT)</a:t>
            </a:r>
          </a:p>
          <a:p>
            <a:r>
              <a:rPr lang="en-US" sz="3000" dirty="0">
                <a:solidFill>
                  <a:schemeClr val="tx1"/>
                </a:solidFill>
              </a:rPr>
              <a:t>		- Airspace dimensions usually include:</a:t>
            </a:r>
          </a:p>
          <a:p>
            <a:endParaRPr lang="en-US" sz="3200" dirty="0">
              <a:solidFill>
                <a:schemeClr val="tx1"/>
              </a:solidFill>
            </a:endParaRPr>
          </a:p>
          <a:p>
            <a:pPr marL="2971800" lvl="5" indent="-457200"/>
            <a:r>
              <a:rPr lang="en-US" sz="2800" dirty="0">
                <a:solidFill>
                  <a:schemeClr val="tx1"/>
                </a:solidFill>
              </a:rPr>
              <a:t>5 NM radius core, surface to 4,000’ AGL</a:t>
            </a:r>
          </a:p>
          <a:p>
            <a:pPr marL="2971800" lvl="5" indent="-457200"/>
            <a:r>
              <a:rPr lang="en-US" sz="2800" dirty="0">
                <a:solidFill>
                  <a:schemeClr val="tx1"/>
                </a:solidFill>
              </a:rPr>
              <a:t>10 NM radius shelf area, 1,200’ AGL to 4,000’ AGL</a:t>
            </a:r>
          </a:p>
          <a:p>
            <a:pPr marL="2971800" lvl="5" indent="-457200"/>
            <a:r>
              <a:rPr lang="en-US" sz="2800" dirty="0"/>
              <a:t>20 NM radius procedural “Outer Area” recommended but not compulsory initial contact point with ATC </a:t>
            </a:r>
            <a:r>
              <a:rPr lang="en-US" sz="2800" dirty="0">
                <a:solidFill>
                  <a:schemeClr val="tx1"/>
                </a:solidFill>
              </a:rPr>
              <a:t>	</a:t>
            </a:r>
            <a:r>
              <a:rPr lang="en-US" sz="34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920523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7A8D8-F753-4D9F-9829-30D11804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140795" y="-2369457"/>
            <a:ext cx="6082028" cy="115062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56647-2363-44A9-960A-760393265EB0}"/>
              </a:ext>
            </a:extLst>
          </p:cNvPr>
          <p:cNvSpPr txBox="1"/>
          <p:nvPr/>
        </p:nvSpPr>
        <p:spPr>
          <a:xfrm>
            <a:off x="7458323" y="2250218"/>
            <a:ext cx="993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 NM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88252-1377-4923-9913-B470E44F2A7E}"/>
              </a:ext>
            </a:extLst>
          </p:cNvPr>
          <p:cNvSpPr txBox="1"/>
          <p:nvPr/>
        </p:nvSpPr>
        <p:spPr>
          <a:xfrm>
            <a:off x="1009816" y="3554233"/>
            <a:ext cx="134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1,200’ AGL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D8477-E103-4584-A57A-CB4F15C3BC53}"/>
              </a:ext>
            </a:extLst>
          </p:cNvPr>
          <p:cNvSpPr txBox="1"/>
          <p:nvPr/>
        </p:nvSpPr>
        <p:spPr>
          <a:xfrm>
            <a:off x="4063117" y="993912"/>
            <a:ext cx="104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 NM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FD0A3C-1C29-42AE-8C91-D0F477D4813F}"/>
              </a:ext>
            </a:extLst>
          </p:cNvPr>
          <p:cNvSpPr txBox="1"/>
          <p:nvPr/>
        </p:nvSpPr>
        <p:spPr>
          <a:xfrm>
            <a:off x="4733678" y="2250218"/>
            <a:ext cx="993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NM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E0B18-B22E-4F43-BF27-0E6C9C57F938}"/>
              </a:ext>
            </a:extLst>
          </p:cNvPr>
          <p:cNvSpPr txBox="1"/>
          <p:nvPr/>
        </p:nvSpPr>
        <p:spPr>
          <a:xfrm>
            <a:off x="8253454" y="4929809"/>
            <a:ext cx="2751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4,000’ AGL</a:t>
            </a:r>
          </a:p>
        </p:txBody>
      </p:sp>
    </p:spTree>
    <p:extLst>
      <p:ext uri="{BB962C8B-B14F-4D97-AF65-F5344CB8AC3E}">
        <p14:creationId xmlns:p14="http://schemas.microsoft.com/office/powerpoint/2010/main" val="248611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C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C Airspace: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Pilot must </a:t>
            </a:r>
            <a:r>
              <a:rPr lang="en-US" sz="2000" i="1" dirty="0">
                <a:solidFill>
                  <a:schemeClr val="tx1"/>
                </a:solidFill>
              </a:rPr>
              <a:t>establish</a:t>
            </a:r>
            <a:r>
              <a:rPr lang="en-US" sz="2000" dirty="0">
                <a:solidFill>
                  <a:schemeClr val="tx1"/>
                </a:solidFill>
              </a:rPr>
              <a:t> Two Way Communications with the ATC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Controlling Agency prior to entering.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</a:rPr>
              <a:t>(note: This is different from the required clearance for entering Class B)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2) All aircraft operating within Class C or Over flying Class C must have an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operable Mode C Transponder.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4) Two Way Communication with ATC not required when overflying Class C</a:t>
            </a:r>
          </a:p>
          <a:p>
            <a:r>
              <a:rPr lang="en-US" sz="2000" dirty="0">
                <a:solidFill>
                  <a:schemeClr val="tx1"/>
                </a:solidFill>
              </a:rPr>
              <a:t>	3) VFR Pilots must comply with minimum visibility and cloud clearance</a:t>
            </a:r>
          </a:p>
          <a:p>
            <a:r>
              <a:rPr lang="en-US" sz="2000" dirty="0">
                <a:solidFill>
                  <a:schemeClr val="tx1"/>
                </a:solidFill>
              </a:rPr>
              <a:t>	    requirements to operate in Class C (see FAR 91.155)   </a:t>
            </a:r>
            <a:r>
              <a:rPr lang="en-US" sz="1800" dirty="0">
                <a:solidFill>
                  <a:schemeClr val="tx1"/>
                </a:solidFill>
              </a:rPr>
              <a:t>3-152 Rule</a:t>
            </a:r>
          </a:p>
        </p:txBody>
      </p:sp>
    </p:spTree>
    <p:extLst>
      <p:ext uri="{BB962C8B-B14F-4D97-AF65-F5344CB8AC3E}">
        <p14:creationId xmlns:p14="http://schemas.microsoft.com/office/powerpoint/2010/main" val="352072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4DEB6-8720-43BB-8A8D-BAC6955EF000}"/>
              </a:ext>
            </a:extLst>
          </p:cNvPr>
          <p:cNvSpPr txBox="1"/>
          <p:nvPr/>
        </p:nvSpPr>
        <p:spPr>
          <a:xfrm>
            <a:off x="155643" y="508882"/>
            <a:ext cx="2492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Sector Altitudes</a:t>
            </a:r>
          </a:p>
          <a:p>
            <a:endParaRPr lang="en-US" dirty="0"/>
          </a:p>
          <a:p>
            <a:r>
              <a:rPr lang="en-US" u="sng" dirty="0"/>
              <a:t> 48 </a:t>
            </a:r>
            <a:r>
              <a:rPr lang="en-US" dirty="0"/>
              <a:t>     Top of Sector</a:t>
            </a:r>
            <a:endParaRPr lang="en-US" u="sng" dirty="0"/>
          </a:p>
          <a:p>
            <a:r>
              <a:rPr lang="en-US" dirty="0"/>
              <a:t> 20     Base of Sector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D81F45-E49A-4F1E-AF5B-530555AD6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343" y="110005"/>
            <a:ext cx="9144291" cy="666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458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F29B2D-81AD-4131-A3A8-253F9F1E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67" y="515035"/>
            <a:ext cx="4945865" cy="58279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4CA8F8-19EA-4FB9-842C-B8592E9EB47C}"/>
              </a:ext>
            </a:extLst>
          </p:cNvPr>
          <p:cNvSpPr txBox="1"/>
          <p:nvPr/>
        </p:nvSpPr>
        <p:spPr>
          <a:xfrm>
            <a:off x="1129085" y="1598212"/>
            <a:ext cx="3434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Surface to 2,500’ AGL</a:t>
            </a:r>
          </a:p>
          <a:p>
            <a:r>
              <a:rPr lang="en-US" dirty="0"/>
              <a:t>- Typically 4 nm radius from airport</a:t>
            </a:r>
          </a:p>
        </p:txBody>
      </p:sp>
    </p:spTree>
    <p:extLst>
      <p:ext uri="{BB962C8B-B14F-4D97-AF65-F5344CB8AC3E}">
        <p14:creationId xmlns:p14="http://schemas.microsoft.com/office/powerpoint/2010/main" val="3003788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 (Delta)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D Airspace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is designated for airports with operating ATC Control Towers</a:t>
            </a:r>
          </a:p>
          <a:p>
            <a:pPr lvl="1" indent="0">
              <a:buNone/>
            </a:pPr>
            <a:r>
              <a:rPr lang="en-US" sz="3100" dirty="0">
                <a:solidFill>
                  <a:schemeClr val="tx1"/>
                </a:solidFill>
              </a:rPr>
              <a:t> 	    (Airports Depicted by Blue Color). </a:t>
            </a:r>
            <a:r>
              <a:rPr lang="en-US" sz="2600" dirty="0">
                <a:solidFill>
                  <a:schemeClr val="tx1"/>
                </a:solidFill>
              </a:rPr>
              <a:t>(</a:t>
            </a:r>
            <a:r>
              <a:rPr lang="en-US" sz="2600" dirty="0" err="1">
                <a:solidFill>
                  <a:schemeClr val="tx1"/>
                </a:solidFill>
              </a:rPr>
              <a:t>eg.</a:t>
            </a:r>
            <a:r>
              <a:rPr lang="en-US" sz="2600" dirty="0">
                <a:solidFill>
                  <a:schemeClr val="tx1"/>
                </a:solidFill>
              </a:rPr>
              <a:t> KDWH)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lateral dimension are depicted by blue dashed circle, most class D’s are 4 nm radius around the airport with extensions to accommodate IFR approaches but each class D airspace is individually tailored.  (</a:t>
            </a:r>
            <a:r>
              <a:rPr lang="en-US" sz="3100" dirty="0" err="1">
                <a:solidFill>
                  <a:schemeClr val="tx1"/>
                </a:solidFill>
              </a:rPr>
              <a:t>eg</a:t>
            </a:r>
            <a:r>
              <a:rPr lang="en-US" sz="3100" dirty="0">
                <a:solidFill>
                  <a:schemeClr val="tx1"/>
                </a:solidFill>
              </a:rPr>
              <a:t> KSGR is 6 nm </a:t>
            </a:r>
            <a:r>
              <a:rPr lang="en-US" sz="3100" dirty="0"/>
              <a:t>radius)</a:t>
            </a:r>
            <a:r>
              <a:rPr lang="en-US" sz="3100" dirty="0">
                <a:solidFill>
                  <a:schemeClr val="tx1"/>
                </a:solidFill>
              </a:rPr>
              <a:t>  </a:t>
            </a: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b="0" dirty="0"/>
              <a:t>Vertically, The top of the airspace is standardized at 2500 ft </a:t>
            </a:r>
            <a:r>
              <a:rPr lang="en-US" sz="2300" b="0" dirty="0"/>
              <a:t>AGL</a:t>
            </a:r>
            <a:r>
              <a:rPr lang="en-US" sz="3100" b="0" dirty="0"/>
              <a:t>, </a:t>
            </a:r>
          </a:p>
          <a:p>
            <a:pPr lvl="1" indent="0">
              <a:buNone/>
            </a:pPr>
            <a:r>
              <a:rPr lang="en-US" sz="3100" dirty="0"/>
              <a:t>	    </a:t>
            </a:r>
            <a:r>
              <a:rPr lang="en-US" sz="3100" b="0" dirty="0"/>
              <a:t>depicted by [##] in </a:t>
            </a:r>
            <a:r>
              <a:rPr lang="en-US" sz="2300" b="0" dirty="0"/>
              <a:t>MSL</a:t>
            </a:r>
            <a:r>
              <a:rPr lang="en-US" sz="3100" b="0" dirty="0"/>
              <a:t>. 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609846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D Airspace: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Pilot must establish Two Way Communications with the ATC Control Tower 	  	    prior to entering and maintain while in Class D.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</a:t>
            </a:r>
            <a:r>
              <a:rPr lang="en-US" dirty="0">
                <a:solidFill>
                  <a:schemeClr val="tx1"/>
                </a:solidFill>
              </a:rPr>
              <a:t>(note: This is different from the required clearance for entering Class B)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2) VFR Pilots must have a minimum ceiling and visibility of 1000 ft and 3 miles to 	    operate in Class D </a:t>
            </a:r>
            <a:r>
              <a:rPr lang="en-US" dirty="0">
                <a:solidFill>
                  <a:schemeClr val="tx1"/>
                </a:solidFill>
              </a:rPr>
              <a:t>(see FAR 91.155 (c),(d))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3) A “Special VFR” Authorization may be requested by the Pilot if a minimum 1 	   	    mile Visibility and the ability to operate Clear of Clouds exists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4) Night Special VFR Authorizations only if </a:t>
            </a:r>
            <a:r>
              <a:rPr lang="en-US" sz="2000" i="1" dirty="0">
                <a:solidFill>
                  <a:schemeClr val="tx1"/>
                </a:solidFill>
              </a:rPr>
              <a:t>IFR rated &amp; Equipped </a:t>
            </a:r>
            <a:r>
              <a:rPr lang="en-US" sz="1400" i="1" dirty="0">
                <a:solidFill>
                  <a:schemeClr val="tx1"/>
                </a:solidFill>
              </a:rPr>
              <a:t>(91.157)</a:t>
            </a:r>
          </a:p>
        </p:txBody>
      </p:sp>
    </p:spTree>
    <p:extLst>
      <p:ext uri="{BB962C8B-B14F-4D97-AF65-F5344CB8AC3E}">
        <p14:creationId xmlns:p14="http://schemas.microsoft.com/office/powerpoint/2010/main" val="646515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2A09AE-DEDF-4DC1-A2FA-825815534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348" y="1214096"/>
            <a:ext cx="4807865" cy="46506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D3036F-9C14-4892-8D65-48497FE6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248" y="1214095"/>
            <a:ext cx="6119341" cy="465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17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D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68197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	At some Class B &amp; D Airports </a:t>
            </a:r>
            <a:r>
              <a:rPr lang="en-US" dirty="0">
                <a:solidFill>
                  <a:schemeClr val="tx1"/>
                </a:solidFill>
              </a:rPr>
              <a:t>(usually the Primary Airport in Class B)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</a:p>
          <a:p>
            <a:r>
              <a:rPr lang="en-US" sz="2000" dirty="0">
                <a:solidFill>
                  <a:schemeClr val="tx1"/>
                </a:solidFill>
              </a:rPr>
              <a:t>	 “Special VFR”	is prohibited. </a:t>
            </a:r>
            <a:endParaRPr lang="en-US" dirty="0">
              <a:solidFill>
                <a:schemeClr val="tx1"/>
              </a:solidFill>
            </a:endParaRPr>
          </a:p>
          <a:p>
            <a:pPr lvl="1" indent="0">
              <a:buNone/>
            </a:pP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91DD8-C67B-4661-B409-BA54AD523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67" y="2438291"/>
            <a:ext cx="5657850" cy="4314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F0C895-768C-42FF-BEE3-E4DDC5F0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43" y="2448380"/>
            <a:ext cx="4087690" cy="430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64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(Echo)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4443" y="1510749"/>
            <a:ext cx="11545294" cy="5088834"/>
          </a:xfrm>
        </p:spPr>
        <p:txBody>
          <a:bodyPr>
            <a:normAutofit fontScale="47500" lnSpcReduction="20000"/>
          </a:bodyPr>
          <a:lstStyle/>
          <a:p>
            <a:r>
              <a:rPr lang="en-US" sz="5100" dirty="0">
                <a:solidFill>
                  <a:schemeClr val="tx1"/>
                </a:solidFill>
              </a:rPr>
              <a:t>Class E Airspace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5100" dirty="0">
                <a:solidFill>
                  <a:schemeClr val="tx1"/>
                </a:solidFill>
              </a:rPr>
              <a:t>is all controlled airspace not classified as A, B ,C, or D</a:t>
            </a:r>
          </a:p>
          <a:p>
            <a:pPr lvl="1" indent="0">
              <a:buNone/>
            </a:pPr>
            <a:endParaRPr lang="en-US" sz="5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5100" dirty="0"/>
              <a:t>defines airspace for the safe control and separation of aircraft during IFR operations</a:t>
            </a:r>
            <a:endParaRPr lang="en-US" sz="5100" dirty="0">
              <a:solidFill>
                <a:schemeClr val="tx1"/>
              </a:solidFill>
            </a:endParaRPr>
          </a:p>
          <a:p>
            <a:pPr marL="1200150" lvl="1" indent="-514350"/>
            <a:endParaRPr lang="en-US" sz="5100" dirty="0"/>
          </a:p>
          <a:p>
            <a:pPr marL="1200150" lvl="1" indent="-514350"/>
            <a:r>
              <a:rPr lang="en-US" sz="5100" dirty="0"/>
              <a:t>Charts depict all Class E airspace with bases below 14,500’.  If not charted, then Class E starts at 14,500’ and goes up to but not including 18,000’</a:t>
            </a:r>
            <a:r>
              <a:rPr lang="en-US" sz="5100" b="0" dirty="0"/>
              <a:t> </a:t>
            </a:r>
          </a:p>
          <a:p>
            <a:pPr marL="1200150" lvl="1" indent="-514350"/>
            <a:endParaRPr lang="en-US" sz="5100" dirty="0"/>
          </a:p>
          <a:p>
            <a:pPr marL="1200150" lvl="1" indent="-514350"/>
            <a:r>
              <a:rPr lang="en-US" sz="5100" dirty="0"/>
              <a:t>VFR Pilots must comply with minimum visibility &amp; cloud clearance requirements</a:t>
            </a:r>
          </a:p>
          <a:p>
            <a:pPr lvl="1" indent="0">
              <a:buNone/>
            </a:pPr>
            <a:r>
              <a:rPr lang="en-US" sz="5100" dirty="0"/>
              <a:t>	     to operate in Class E (see FAR 91.155) </a:t>
            </a:r>
          </a:p>
          <a:p>
            <a:pPr lvl="1" indent="0">
              <a:buNone/>
            </a:pPr>
            <a:r>
              <a:rPr lang="en-US" sz="3200" b="0" dirty="0"/>
              <a:t>			</a:t>
            </a:r>
            <a:r>
              <a:rPr lang="en-US" sz="3400" b="0" dirty="0"/>
              <a:t>Memory Aid:  	3-152 rule (below 10,000’ MSL)</a:t>
            </a:r>
          </a:p>
          <a:p>
            <a:pPr lvl="1" indent="0">
              <a:buNone/>
            </a:pPr>
            <a:r>
              <a:rPr lang="en-US" sz="3400" b="0" dirty="0"/>
              <a:t>					5-F111 rule (above 10,000’ MSL)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729321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Class E Airspace  - Transition Areas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2800" dirty="0"/>
              <a:t>Transition areas are depicted by magenta shaded areas</a:t>
            </a:r>
          </a:p>
          <a:p>
            <a:pPr marL="1200150" lvl="1" indent="-514350"/>
            <a:endParaRPr lang="en-US" sz="28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2800" dirty="0">
                <a:solidFill>
                  <a:schemeClr val="tx1"/>
                </a:solidFill>
              </a:rPr>
              <a:t>Inside the magenta shading, the Class E base is 700’ </a:t>
            </a:r>
            <a:r>
              <a:rPr lang="en-US" sz="1900" dirty="0">
                <a:solidFill>
                  <a:schemeClr val="tx1"/>
                </a:solidFill>
              </a:rPr>
              <a:t>AGL</a:t>
            </a:r>
          </a:p>
          <a:p>
            <a:pPr marL="1200150" lvl="1" indent="-514350"/>
            <a:endParaRPr lang="en-US" sz="2800" dirty="0"/>
          </a:p>
          <a:p>
            <a:pPr marL="1200150" lvl="1" indent="-514350"/>
            <a:r>
              <a:rPr lang="en-US" sz="2800" dirty="0"/>
              <a:t>Outside the magenta shading, the Class E base is 1,200’ </a:t>
            </a:r>
            <a:r>
              <a:rPr lang="en-US" sz="2000" dirty="0"/>
              <a:t>AGL</a:t>
            </a:r>
          </a:p>
          <a:p>
            <a:pPr lvl="3" indent="0">
              <a:buNone/>
            </a:pPr>
            <a:r>
              <a:rPr lang="en-US" dirty="0"/>
              <a:t>(AIM 3-2-6: 3a)</a:t>
            </a: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4112298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74F97-7782-4DE7-8FE8-E43D4380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342900"/>
            <a:ext cx="9553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779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Class E Airspace  - Surface Area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2800" dirty="0"/>
              <a:t>Some airports may have a Class E Surface area designated for the airport where a control tower does not exist or the control tower is not in operation</a:t>
            </a:r>
          </a:p>
          <a:p>
            <a:pPr marL="1200150" lvl="1" indent="-514350"/>
            <a:endParaRPr lang="en-US" sz="2800" dirty="0"/>
          </a:p>
          <a:p>
            <a:pPr marL="1200150" lvl="1" indent="-514350"/>
            <a:r>
              <a:rPr lang="en-US" sz="2800" dirty="0"/>
              <a:t>depicted by magenta dashed lines surrounding the airport</a:t>
            </a:r>
          </a:p>
          <a:p>
            <a:pPr marL="1200150" lvl="1" indent="-514350"/>
            <a:endParaRPr lang="en-US" sz="28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2800" dirty="0"/>
              <a:t>Dimension is standardized as 4 nm radius with extensions for IFR approaches</a:t>
            </a:r>
            <a:endParaRPr lang="en-US" sz="1900" dirty="0">
              <a:solidFill>
                <a:schemeClr val="tx1"/>
              </a:solidFill>
            </a:endParaRPr>
          </a:p>
          <a:p>
            <a:pPr marL="1200150" lvl="1" indent="-514350"/>
            <a:endParaRPr lang="en-US" sz="2800" dirty="0"/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4839111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E Airspace – Surface Area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VFR Pilots must have a minimum ceiling and visibility of 1000 ft and 3 miles to operate in Class E surface areas (see FAR 91.155 (c),(d)) </a:t>
            </a: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A “Special VFR” Authorization may be requested by the Pilot if a minimum 1 mile Visibility and the ability to operate Clear of Clouds exists  (FAR 91.157)</a:t>
            </a:r>
          </a:p>
          <a:p>
            <a:pPr marL="1028700" lvl="1" indent="-342900"/>
            <a:endParaRPr lang="en-US" dirty="0">
              <a:solidFill>
                <a:schemeClr val="tx1"/>
              </a:solidFill>
            </a:endParaRPr>
          </a:p>
          <a:p>
            <a:pPr marL="1028700" lvl="1" indent="-342900"/>
            <a:r>
              <a:rPr lang="en-US" dirty="0">
                <a:solidFill>
                  <a:schemeClr val="tx1"/>
                </a:solidFill>
              </a:rPr>
              <a:t>Night Special VFR Authorizations only if </a:t>
            </a:r>
            <a:r>
              <a:rPr lang="en-US" i="1" dirty="0">
                <a:solidFill>
                  <a:schemeClr val="tx1"/>
                </a:solidFill>
              </a:rPr>
              <a:t>IFR rated &amp; equipped. </a:t>
            </a:r>
          </a:p>
        </p:txBody>
      </p:sp>
    </p:spTree>
    <p:extLst>
      <p:ext uri="{BB962C8B-B14F-4D97-AF65-F5344CB8AC3E}">
        <p14:creationId xmlns:p14="http://schemas.microsoft.com/office/powerpoint/2010/main" val="36774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F37F91-64A2-4BD7-9F75-A8303A14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901148"/>
            <a:ext cx="5515142" cy="46349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E007A2-AAA9-405A-9157-581C79581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63" y="907110"/>
            <a:ext cx="5879148" cy="462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089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 fontScale="85000" lnSpcReduction="20000"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Class E Airspace  - Victor Airways</a:t>
            </a:r>
          </a:p>
          <a:p>
            <a:r>
              <a:rPr lang="en-US" sz="3200" dirty="0">
                <a:solidFill>
                  <a:schemeClr val="tx1"/>
                </a:solidFill>
              </a:rPr>
              <a:t>	</a:t>
            </a:r>
          </a:p>
          <a:p>
            <a:pPr marL="1200150" lvl="1" indent="-514350"/>
            <a:r>
              <a:rPr lang="en-US" sz="3100" dirty="0">
                <a:solidFill>
                  <a:schemeClr val="tx1"/>
                </a:solidFill>
              </a:rPr>
              <a:t>Interstate highways of the sky</a:t>
            </a:r>
          </a:p>
          <a:p>
            <a:pPr lvl="1" indent="0">
              <a:buNone/>
            </a:pP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r>
              <a:rPr lang="en-US" sz="3100" dirty="0"/>
              <a:t>Depicted by sold blue lines connecting VOR to VOR.  Airways are designated by “V###”</a:t>
            </a:r>
            <a:endParaRPr lang="en-US" sz="3100" dirty="0">
              <a:solidFill>
                <a:schemeClr val="tx1"/>
              </a:solidFill>
            </a:endParaRP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dirty="0"/>
              <a:t>Lateral dimensions are 4 nm each side of airway centerline.  (8 nm wide)</a:t>
            </a:r>
          </a:p>
          <a:p>
            <a:pPr marL="1200150" lvl="1" indent="-514350"/>
            <a:endParaRPr lang="en-US" sz="3100" dirty="0"/>
          </a:p>
          <a:p>
            <a:pPr marL="1200150" lvl="1" indent="-514350"/>
            <a:r>
              <a:rPr lang="en-US" sz="3100" dirty="0"/>
              <a:t>Vertical dimensions are 1,200’ AGL up to but not including 18,000’</a:t>
            </a:r>
            <a:endParaRPr lang="en-US" sz="3100" dirty="0">
              <a:solidFill>
                <a:schemeClr val="tx1"/>
              </a:solidFill>
            </a:endParaRPr>
          </a:p>
          <a:p>
            <a:pPr lvl="1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606184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E Airspace  - VICTOR AIRWAYS:</a:t>
            </a:r>
          </a:p>
          <a:p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1)</a:t>
            </a:r>
            <a:r>
              <a:rPr lang="en-US" sz="2000" b="0" dirty="0"/>
              <a:t> </a:t>
            </a:r>
            <a:r>
              <a:rPr lang="en-US" sz="2000" dirty="0">
                <a:solidFill>
                  <a:schemeClr val="tx1"/>
                </a:solidFill>
              </a:rPr>
              <a:t>Comply with Part 91 Visibility and Cloud Clearance Requirements.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(Memory Aid: </a:t>
            </a:r>
            <a:r>
              <a:rPr lang="en-US" sz="2000" i="1" dirty="0">
                <a:solidFill>
                  <a:schemeClr val="tx1"/>
                </a:solidFill>
              </a:rPr>
              <a:t>3-152 </a:t>
            </a:r>
            <a:r>
              <a:rPr lang="en-US" sz="2000" dirty="0">
                <a:solidFill>
                  <a:schemeClr val="tx1"/>
                </a:solidFill>
              </a:rPr>
              <a:t>Rule and/or </a:t>
            </a:r>
            <a:r>
              <a:rPr lang="en-US" sz="2000" i="1" dirty="0">
                <a:solidFill>
                  <a:schemeClr val="tx1"/>
                </a:solidFill>
              </a:rPr>
              <a:t>5-F111 </a:t>
            </a:r>
            <a:r>
              <a:rPr lang="en-US" sz="2000" dirty="0">
                <a:solidFill>
                  <a:schemeClr val="tx1"/>
                </a:solidFill>
              </a:rPr>
              <a:t>Rule)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2) Comply with the Cardinal Rule for Cruise Altitudes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(Mag Course 0-179: Odd Thousands + 500ft,(3500, 5500, 7500, …)</a:t>
            </a:r>
          </a:p>
          <a:p>
            <a:r>
              <a:rPr lang="en-US" sz="2000" dirty="0">
                <a:solidFill>
                  <a:schemeClr val="tx1"/>
                </a:solidFill>
              </a:rPr>
              <a:t>		(Mag Course 180-359: Even Thousands + 500 ft. (4500, 6500, 8500, …)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</a:t>
            </a:r>
            <a:endParaRPr lang="en-US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694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C74F97-7782-4DE7-8FE8-E43D4380B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342900"/>
            <a:ext cx="9553575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701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G (Golf) Uncontrolled Airspace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CLASS G AIRSPACE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Exists over most of the USA, from the surface to 700’ AGL, or surface to 1,200’ AGL.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Class G exists below Class E.</a:t>
            </a:r>
            <a:endParaRPr lang="en-US" sz="2400" dirty="0"/>
          </a:p>
          <a:p>
            <a:pPr lvl="2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	</a:t>
            </a:r>
          </a:p>
          <a:p>
            <a:pPr marL="1485900" lvl="2" indent="-342900"/>
            <a:r>
              <a:rPr lang="en-US" sz="2400" dirty="0">
                <a:solidFill>
                  <a:schemeClr val="tx1"/>
                </a:solidFill>
              </a:rPr>
              <a:t>This low level airspace allows VFR pilots to operate with minimum weather conditions and remain VFR</a:t>
            </a:r>
          </a:p>
        </p:txBody>
      </p:sp>
    </p:spTree>
    <p:extLst>
      <p:ext uri="{BB962C8B-B14F-4D97-AF65-F5344CB8AC3E}">
        <p14:creationId xmlns:p14="http://schemas.microsoft.com/office/powerpoint/2010/main" val="2832168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Class 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Operation Requirements for Class G Airspace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/>
            <a:r>
              <a:rPr lang="en-US" sz="2400" dirty="0"/>
              <a:t>VFR Pilots must comply with Part 91 visibility and cloud clearance requirements</a:t>
            </a:r>
          </a:p>
          <a:p>
            <a:pPr marL="1943100" lvl="3" indent="-342900"/>
            <a:r>
              <a:rPr lang="en-US" dirty="0">
                <a:solidFill>
                  <a:schemeClr val="tx1"/>
                </a:solidFill>
              </a:rPr>
              <a:t>Daytime:  1 SM visibility and operate clear of cloud</a:t>
            </a:r>
          </a:p>
          <a:p>
            <a:pPr marL="1943100" lvl="3" indent="-342900"/>
            <a:r>
              <a:rPr lang="en-US" dirty="0"/>
              <a:t>Night time: 3 SM vis, 500’ below/ 1000’ above/ 2000’ </a:t>
            </a:r>
            <a:r>
              <a:rPr lang="en-US" dirty="0" err="1"/>
              <a:t>hz</a:t>
            </a:r>
            <a:r>
              <a:rPr lang="en-US" dirty="0"/>
              <a:t> clearance from clouds (152 rule)</a:t>
            </a:r>
            <a:endParaRPr lang="en-US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503B86-6992-4BE7-8BEE-D2C2B84A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965" y="3958432"/>
            <a:ext cx="7569351" cy="270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76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Prohibited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Prohibited Areas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tight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“Prohibited P-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Placed over areas of sensitive National Security, </a:t>
            </a:r>
            <a:r>
              <a:rPr lang="en-US" sz="2400" dirty="0" err="1"/>
              <a:t>eg</a:t>
            </a:r>
            <a:r>
              <a:rPr lang="en-US" sz="2400" dirty="0"/>
              <a:t>: White House, Camp David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i="1" u="sng" dirty="0"/>
              <a:t>Authorization</a:t>
            </a:r>
            <a:r>
              <a:rPr lang="en-US" sz="2200" dirty="0"/>
              <a:t> from the ATC Controlling Agency is required – unlikely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Avoid Prohibited Areas at all times, monitor 121.5 for violation warnings &amp; intercept by military</a:t>
            </a:r>
          </a:p>
          <a:p>
            <a:pPr marL="1943100" lvl="3" indent="-342900">
              <a:lnSpc>
                <a:spcPct val="150000"/>
              </a:lnSpc>
            </a:pPr>
            <a:endParaRPr lang="en-US" sz="2200" dirty="0"/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611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15244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Prohibited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73009" y="5605670"/>
            <a:ext cx="33788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2C2949-208A-4AA4-8D81-F8D82FD1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80" y="2028871"/>
            <a:ext cx="5483750" cy="4719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DA717C-6088-463D-A4AF-5D2DCD6CF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538" y="2180465"/>
            <a:ext cx="5617743" cy="28775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E90215-47F5-49A6-A57A-F57A4EA56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38" y="5052018"/>
            <a:ext cx="5617743" cy="48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34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Restricted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Restricted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“Restricted R- ####”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i="1" u="sng" dirty="0"/>
              <a:t>Authorization</a:t>
            </a:r>
            <a:r>
              <a:rPr lang="en-US" sz="2200" dirty="0"/>
              <a:t> from the ATC Controlling Agency is required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302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Restricted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A83521-5AD5-4D63-94D3-7A799361C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878" y="2552369"/>
            <a:ext cx="5464104" cy="307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888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Warning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WARNING Areas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blue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“Warning W-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of extreme military activity, most are established beyond 3 mile limit off of US shorelines, therefore not considered US Airspace 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If flight through is required, recommend VFR flight following from ATC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1026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Warning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D21F43-7B8C-4A91-BCCF-193A07A53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664" y="1957310"/>
            <a:ext cx="4556097" cy="458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90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MOA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magenta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contain military training operations  </a:t>
            </a:r>
            <a:r>
              <a:rPr lang="en-US" sz="1800" dirty="0"/>
              <a:t>(such as aerobatic maneuvers)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Pilots should use extreme caution if flying through an active MOA (“Hot”)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To determine if the MOA is “Hot”, contact the ATC Controlling Agency or the nearest FSS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249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 – Operational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Extreme vigilance is the only requirement to fly through a “Hot” MOA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i="1" u="sng" dirty="0"/>
              <a:t>It is highly recommended to remain clear of an active MOA</a:t>
            </a:r>
            <a:endParaRPr lang="en-US" sz="1800" i="1" u="sng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Should flight through be required, It is recommended to contact the ATC controlling agency and participate in “VFR Flight Following”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1989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080883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Operating Areas (MOA)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91" y="2538650"/>
            <a:ext cx="4551011" cy="1016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44BB55-8084-4E5D-8778-D25FAC0F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21" y="3721636"/>
            <a:ext cx="5427179" cy="2081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58B204-FF21-4D70-92E6-A60C819D480D}"/>
              </a:ext>
            </a:extLst>
          </p:cNvPr>
          <p:cNvSpPr txBox="1"/>
          <p:nvPr/>
        </p:nvSpPr>
        <p:spPr>
          <a:xfrm>
            <a:off x="7951303" y="5899868"/>
            <a:ext cx="2822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Side Panel 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37E005-8698-402C-8037-50EACDB8C3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4" y="2122998"/>
            <a:ext cx="6077768" cy="384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442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ALERT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ALERT Areas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area bordered by magenta hatching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label:  “Alert A- ####”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Areas of concentrated traffic, usually military or civilian student training </a:t>
            </a:r>
            <a:endParaRPr lang="en-US" sz="1800" dirty="0"/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Detailed information provided on the Sectional Chart side panel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637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4"/>
            <a:ext cx="11282901" cy="4802588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Alert Areas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8CA30-9AFE-4375-905B-E995FC00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68" y="1957310"/>
            <a:ext cx="4708474" cy="10520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59BE32-A95F-424C-A80A-7E123FD28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74" y="3154561"/>
            <a:ext cx="5314062" cy="2838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16B567-F45A-429B-9DBA-00154E8B8D05}"/>
              </a:ext>
            </a:extLst>
          </p:cNvPr>
          <p:cNvSpPr txBox="1"/>
          <p:nvPr/>
        </p:nvSpPr>
        <p:spPr>
          <a:xfrm>
            <a:off x="7688911" y="6138407"/>
            <a:ext cx="3362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 from Sectional Chart side panel 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6921CD-AC09-47FE-B54B-B4285C522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143" y="2021474"/>
            <a:ext cx="3798571" cy="473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193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Terminal Radar Service Area (TRSA)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is depicted on the charts by solid grey concentric rings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shape of each site is individually designed.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Vertically, the airspace is shaped much like an upside down </a:t>
            </a:r>
            <a:r>
              <a:rPr lang="en-US" sz="2800" i="1" dirty="0">
                <a:solidFill>
                  <a:schemeClr val="tx1"/>
                </a:solidFill>
              </a:rPr>
              <a:t>wedding cake</a:t>
            </a:r>
            <a:r>
              <a:rPr lang="en-US" sz="2800" dirty="0">
                <a:solidFill>
                  <a:schemeClr val="tx1"/>
                </a:solidFill>
              </a:rPr>
              <a:t>, with sectors affecting specific altitudes.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/>
              <a:t>TRSA is operationally similar to Class C Airspace</a:t>
            </a:r>
            <a:endParaRPr lang="en-US" sz="2800" dirty="0">
              <a:solidFill>
                <a:schemeClr val="tx1"/>
              </a:solidFill>
            </a:endParaRPr>
          </a:p>
          <a:p>
            <a:pPr marL="2057400" lvl="3" indent="-457200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240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chemeClr val="tx1"/>
                </a:solidFill>
              </a:rPr>
              <a:t>Operation Requirements - (TRSA)</a:t>
            </a: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VFR </a:t>
            </a:r>
            <a:r>
              <a:rPr lang="en-US" sz="2800" dirty="0"/>
              <a:t>participation is </a:t>
            </a:r>
            <a:r>
              <a:rPr lang="en-US" sz="2800" i="1" u="sng" dirty="0"/>
              <a:t>not mandatory</a:t>
            </a:r>
            <a:endParaRPr lang="en-US" sz="2800" i="1" u="sng" dirty="0">
              <a:solidFill>
                <a:schemeClr val="tx1"/>
              </a:solidFill>
            </a:endParaRPr>
          </a:p>
          <a:p>
            <a:pPr marL="2057400" lvl="3" indent="-457200">
              <a:lnSpc>
                <a:spcPct val="150000"/>
              </a:lnSpc>
            </a:pPr>
            <a:r>
              <a:rPr lang="en-US" sz="2800" dirty="0">
                <a:solidFill>
                  <a:schemeClr val="tx1"/>
                </a:solidFill>
              </a:rPr>
              <a:t>VFR pilots not wishing to participate are requested to contact </a:t>
            </a:r>
            <a:r>
              <a:rPr lang="en-US" sz="2800" dirty="0"/>
              <a:t>ATC approach control and state “Negative TRSA Service”</a:t>
            </a:r>
            <a:endParaRPr lang="en-US" sz="2800" dirty="0">
              <a:solidFill>
                <a:schemeClr val="tx1"/>
              </a:solidFill>
            </a:endParaRPr>
          </a:p>
          <a:p>
            <a:pPr lvl="3" indent="0">
              <a:lnSpc>
                <a:spcPct val="150000"/>
              </a:lnSpc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2057400" lvl="3" indent="-457200"/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325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94DEB6-8720-43BB-8A8D-BAC6955EF000}"/>
              </a:ext>
            </a:extLst>
          </p:cNvPr>
          <p:cNvSpPr txBox="1"/>
          <p:nvPr/>
        </p:nvSpPr>
        <p:spPr>
          <a:xfrm>
            <a:off x="155643" y="508882"/>
            <a:ext cx="24921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TRSA</a:t>
            </a:r>
          </a:p>
          <a:p>
            <a:r>
              <a:rPr lang="en-US" u="sng" dirty="0"/>
              <a:t>Sector Altitudes</a:t>
            </a:r>
          </a:p>
          <a:p>
            <a:endParaRPr lang="en-US" dirty="0"/>
          </a:p>
          <a:p>
            <a:r>
              <a:rPr lang="en-US" u="sng" dirty="0"/>
              <a:t> 70 </a:t>
            </a:r>
            <a:r>
              <a:rPr lang="en-US" dirty="0"/>
              <a:t>     Top of Sector</a:t>
            </a:r>
            <a:endParaRPr lang="en-US" u="sng" dirty="0"/>
          </a:p>
          <a:p>
            <a:r>
              <a:rPr lang="en-US" dirty="0"/>
              <a:t> 08     Base of Sector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E78799-4918-42BF-9CAB-A3930796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76" y="61912"/>
            <a:ext cx="6943725" cy="673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44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-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Military Training Routes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Depicted by solid straight, grey lines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Identified by label on line:  “VR ###” or “IR ###”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Routes are used by military aircraft for high speed navigation training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VR or IR #### (4 digits) operate below 1,500’ AGL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VR or IR ### (2 or 3 digits) operate above 1,500’ AGL up to 10,000’ MSL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OPERATIONAL REQUIREMENTS:  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Only requirement is see and avoid – exercise vigilance</a:t>
            </a:r>
          </a:p>
          <a:p>
            <a:pPr marL="1943100" lvl="3" indent="-342900">
              <a:lnSpc>
                <a:spcPct val="150000"/>
              </a:lnSpc>
            </a:pPr>
            <a:r>
              <a:rPr lang="en-US" sz="2200" dirty="0"/>
              <a:t>Contact FSS to inquire about operating times for routes along your flight path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44376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Military Training Routes (MTR’s)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8C3A6-9DC4-468B-A4C0-22BB5CB43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0414" y="2110435"/>
            <a:ext cx="4953663" cy="4391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3F36D4-0347-4662-B42F-14E51ED4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72" y="2129987"/>
            <a:ext cx="5771217" cy="439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5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Temporary Flight Restrictions (TFR)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Established by FDC NOTAM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 err="1"/>
              <a:t>Notam</a:t>
            </a:r>
            <a:r>
              <a:rPr lang="en-US" sz="2400" dirty="0"/>
              <a:t> provides location, effective time period, area defined in statute miles, and altitudes affected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Pilot is responsible to check for TFR’s as part of the preflight planning process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TFR’s and details available at www.tfr.faa.gov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792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Special Use Airspace – OTHER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486893"/>
            <a:ext cx="11282901" cy="5271715"/>
          </a:xfrm>
        </p:spPr>
        <p:txBody>
          <a:bodyPr>
            <a:normAutofit lnSpcReduction="10000"/>
          </a:bodyPr>
          <a:lstStyle/>
          <a:p>
            <a:r>
              <a:rPr lang="en-US" sz="2400" u="sng" dirty="0">
                <a:solidFill>
                  <a:schemeClr val="accent1">
                    <a:lumMod val="75000"/>
                  </a:schemeClr>
                </a:solidFill>
              </a:rPr>
              <a:t>Other Airspace Areas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(PHOAK 15-4)</a:t>
            </a:r>
            <a:endParaRPr lang="en-US" sz="24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Local Airport Advisory (LAA)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Parachute jump aircraft operations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Published VFR Routes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National Security Areas (NSA)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Air Defense Identification Zones (ADIZ)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Flight Restricted Zones in vicinity of White House &amp; Capital (FRZ)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Wildlife and Wilderness Areas, National Parks</a:t>
            </a:r>
          </a:p>
          <a:p>
            <a:pPr marL="1485900" lvl="2" indent="-342900">
              <a:lnSpc>
                <a:spcPct val="150000"/>
              </a:lnSpc>
            </a:pPr>
            <a:r>
              <a:rPr lang="en-US" sz="2400" dirty="0"/>
              <a:t>NOAA Marine Areas</a:t>
            </a:r>
          </a:p>
          <a:p>
            <a:pPr lvl="2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479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VFR Weather Minimums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49266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BB63AA-4D64-432C-9374-C3C6045D0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42" y="151075"/>
            <a:ext cx="5761624" cy="6555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1A08EF-BBED-4189-908D-FE5050DE6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07" y="151075"/>
            <a:ext cx="3326182" cy="6555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898EA2-A409-4122-9680-D3A4E54F2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546" y="3164464"/>
            <a:ext cx="820445" cy="52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45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3D6B26-D037-4DE7-962F-29C7BFDCE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984" y="244380"/>
            <a:ext cx="5758680" cy="63692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B458F4-0895-4624-96A4-520B23B7E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718" y="244379"/>
            <a:ext cx="1296026" cy="6369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8D5EF9-99E2-4166-BE4A-9003F7F10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238" y="3119827"/>
            <a:ext cx="836585" cy="6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546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7A9F16-26FF-4F47-A9BF-C339A04C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82" y="246490"/>
            <a:ext cx="5233149" cy="63650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F6AD8D-4301-488E-9089-C944E6725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531" y="246490"/>
            <a:ext cx="2088078" cy="63650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A7856F-3FEA-4E4C-BEA3-FC81DC8DA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006" y="1232452"/>
            <a:ext cx="1071564" cy="53790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0A5743-3174-4FB7-A854-E7084A14F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333" y="3119827"/>
            <a:ext cx="836585" cy="61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833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30677F-6844-46D0-B1D0-8846728D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47" y="180633"/>
            <a:ext cx="8071485" cy="64967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E15F1F-2660-44CF-940F-E4BB163B1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59" y="3073380"/>
            <a:ext cx="749120" cy="55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540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E15F1F-2660-44CF-940F-E4BB163B1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159" y="3073380"/>
            <a:ext cx="749120" cy="5536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FAED22-2807-4A3F-AEF9-7EE812373D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67000" y="624840"/>
            <a:ext cx="685800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144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Special VFR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Allows operations within controlled airspace in weather conditions less than basic</a:t>
            </a:r>
          </a:p>
          <a:p>
            <a:r>
              <a:rPr lang="en-US" sz="2000" dirty="0">
                <a:solidFill>
                  <a:schemeClr val="tx1"/>
                </a:solidFill>
              </a:rPr>
              <a:t>    VFR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Provides IFR separation to VFR traffic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Must be requested by Pilot and approved by ATC (may be relayed by FSS)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tx1"/>
                </a:solidFill>
              </a:rPr>
              <a:t> Allowed within lateral boundaries of surface areas of Class B, C, D, or E airspace up to but not including 10,000’ MSL</a:t>
            </a:r>
          </a:p>
          <a:p>
            <a:pPr marL="342900" indent="-342900">
              <a:buFontTx/>
              <a:buChar char="-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1657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Airspace – Special VFR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5" y="1653872"/>
            <a:ext cx="11282901" cy="4635610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chemeClr val="tx1"/>
                </a:solidFill>
              </a:rPr>
              <a:t>Special VFR Requirements</a:t>
            </a:r>
          </a:p>
          <a:p>
            <a:r>
              <a:rPr lang="en-US" sz="2000" dirty="0">
                <a:solidFill>
                  <a:schemeClr val="tx1"/>
                </a:solidFill>
              </a:rPr>
              <a:t>	- Clearance from ATC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Weather minimums:	1SM / clear of clouds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Night:  Pilot and aircraft must IFR rated &amp; equipped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If ground visibility is not reported, it may be replaced with 1 SM of flight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	- Special VFR not allowed at certain large airports (noted on sectional chart)</a:t>
            </a:r>
          </a:p>
        </p:txBody>
      </p:sp>
    </p:spTree>
    <p:extLst>
      <p:ext uri="{BB962C8B-B14F-4D97-AF65-F5344CB8AC3E}">
        <p14:creationId xmlns:p14="http://schemas.microsoft.com/office/powerpoint/2010/main" val="7239578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59BA342-3942-4D64-9785-44D61258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070" y="216364"/>
            <a:ext cx="3355451" cy="634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08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7740</TotalTime>
  <Words>1320</Words>
  <Application>Microsoft Office PowerPoint</Application>
  <PresentationFormat>Widescreen</PresentationFormat>
  <Paragraphs>346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5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PowerPoint Presentation</vt:lpstr>
      <vt:lpstr>Airspace  </vt:lpstr>
      <vt:lpstr>Airspace  </vt:lpstr>
      <vt:lpstr>Airspace  </vt:lpstr>
      <vt:lpstr>Airspace  </vt:lpstr>
      <vt:lpstr>PowerPoint Presentation</vt:lpstr>
      <vt:lpstr>Airspace – Class B (Bravo)  </vt:lpstr>
      <vt:lpstr>Airspace – Class B  </vt:lpstr>
      <vt:lpstr>PowerPoint Presentation</vt:lpstr>
      <vt:lpstr>PowerPoint Presentation</vt:lpstr>
      <vt:lpstr>Airspace – Class C (Charlie)  </vt:lpstr>
      <vt:lpstr>PowerPoint Presentation</vt:lpstr>
      <vt:lpstr>Airspace – Class C  </vt:lpstr>
      <vt:lpstr>PowerPoint Presentation</vt:lpstr>
      <vt:lpstr>PowerPoint Presentation</vt:lpstr>
      <vt:lpstr>Airspace – Class D (Delta)  </vt:lpstr>
      <vt:lpstr>Airspace – Class D  </vt:lpstr>
      <vt:lpstr>PowerPoint Presentation</vt:lpstr>
      <vt:lpstr>Airspace – Class D </vt:lpstr>
      <vt:lpstr>Airspace – Class E (Echo)  </vt:lpstr>
      <vt:lpstr>Airspace – Class E   </vt:lpstr>
      <vt:lpstr>PowerPoint Presentation</vt:lpstr>
      <vt:lpstr>Airspace – Class E   </vt:lpstr>
      <vt:lpstr>Airspace – Class E  </vt:lpstr>
      <vt:lpstr>PowerPoint Presentation</vt:lpstr>
      <vt:lpstr>Airspace – Class E   </vt:lpstr>
      <vt:lpstr>Airspace – Class E  </vt:lpstr>
      <vt:lpstr>PowerPoint Presentation</vt:lpstr>
      <vt:lpstr>Airspace – Class G (Golf) Uncontrolled Airspace </vt:lpstr>
      <vt:lpstr>Airspace – Class G </vt:lpstr>
      <vt:lpstr>Special Use Airspace - Prohibited  </vt:lpstr>
      <vt:lpstr>Special Use Airspace  </vt:lpstr>
      <vt:lpstr>Special Use Airspace - Restricted  </vt:lpstr>
      <vt:lpstr>Special Use Airspace  </vt:lpstr>
      <vt:lpstr>Special Use Airspace - Warning </vt:lpstr>
      <vt:lpstr>Special Use Airspace  </vt:lpstr>
      <vt:lpstr>Special Use Airspace - MOA  </vt:lpstr>
      <vt:lpstr>Special Use Airspace  </vt:lpstr>
      <vt:lpstr>Special Use Airspace  </vt:lpstr>
      <vt:lpstr>Special Use Airspace - ALERT  </vt:lpstr>
      <vt:lpstr>Special Use Airspace  </vt:lpstr>
      <vt:lpstr>Special Use Airspace – Other  </vt:lpstr>
      <vt:lpstr>Special Use Airspace – Other  </vt:lpstr>
      <vt:lpstr>PowerPoint Presentation</vt:lpstr>
      <vt:lpstr>Special Use Airspace - other </vt:lpstr>
      <vt:lpstr>Special use Airspace – Other  </vt:lpstr>
      <vt:lpstr>Special Use Airspace – OTHER </vt:lpstr>
      <vt:lpstr>Special Use Airspace – OTHER </vt:lpstr>
      <vt:lpstr>Airspace – VFR Weather Minimums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Airspace – Special VFR  </vt:lpstr>
      <vt:lpstr>Airspace – Special VFR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NCP</cp:lastModifiedBy>
  <cp:revision>84</cp:revision>
  <cp:lastPrinted>2019-10-14T15:23:35Z</cp:lastPrinted>
  <dcterms:created xsi:type="dcterms:W3CDTF">2019-02-02T21:35:12Z</dcterms:created>
  <dcterms:modified xsi:type="dcterms:W3CDTF">2019-10-14T15:58:13Z</dcterms:modified>
</cp:coreProperties>
</file>