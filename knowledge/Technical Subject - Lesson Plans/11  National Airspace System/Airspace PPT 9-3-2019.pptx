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4" r:id="rId2"/>
    <p:sldId id="338" r:id="rId3"/>
    <p:sldId id="326" r:id="rId4"/>
    <p:sldId id="323" r:id="rId5"/>
    <p:sldId id="325" r:id="rId6"/>
    <p:sldId id="327" r:id="rId7"/>
    <p:sldId id="339" r:id="rId8"/>
    <p:sldId id="329" r:id="rId9"/>
    <p:sldId id="328" r:id="rId10"/>
    <p:sldId id="332" r:id="rId11"/>
    <p:sldId id="343" r:id="rId12"/>
    <p:sldId id="334" r:id="rId13"/>
    <p:sldId id="335" r:id="rId14"/>
    <p:sldId id="336" r:id="rId15"/>
    <p:sldId id="337" r:id="rId16"/>
    <p:sldId id="344" r:id="rId17"/>
    <p:sldId id="350" r:id="rId18"/>
    <p:sldId id="352" r:id="rId19"/>
    <p:sldId id="345" r:id="rId20"/>
    <p:sldId id="346" r:id="rId21"/>
    <p:sldId id="340" r:id="rId22"/>
    <p:sldId id="353" r:id="rId23"/>
    <p:sldId id="348" r:id="rId24"/>
    <p:sldId id="357" r:id="rId25"/>
    <p:sldId id="358" r:id="rId26"/>
    <p:sldId id="356" r:id="rId27"/>
    <p:sldId id="351" r:id="rId28"/>
    <p:sldId id="342" r:id="rId29"/>
    <p:sldId id="355" r:id="rId30"/>
    <p:sldId id="354" r:id="rId31"/>
    <p:sldId id="359" r:id="rId32"/>
    <p:sldId id="364" r:id="rId33"/>
    <p:sldId id="366" r:id="rId34"/>
    <p:sldId id="371" r:id="rId35"/>
    <p:sldId id="368" r:id="rId36"/>
    <p:sldId id="369" r:id="rId37"/>
    <p:sldId id="362" r:id="rId38"/>
    <p:sldId id="360" r:id="rId39"/>
    <p:sldId id="361" r:id="rId40"/>
    <p:sldId id="363" r:id="rId41"/>
    <p:sldId id="365" r:id="rId42"/>
    <p:sldId id="370" r:id="rId43"/>
    <p:sldId id="373" r:id="rId44"/>
    <p:sldId id="374" r:id="rId45"/>
    <p:sldId id="376" r:id="rId46"/>
    <p:sldId id="377" r:id="rId47"/>
    <p:sldId id="330" r:id="rId48"/>
    <p:sldId id="385" r:id="rId49"/>
    <p:sldId id="386" r:id="rId50"/>
    <p:sldId id="375" r:id="rId51"/>
    <p:sldId id="378" r:id="rId52"/>
    <p:sldId id="379" r:id="rId53"/>
    <p:sldId id="380" r:id="rId54"/>
    <p:sldId id="381" r:id="rId55"/>
    <p:sldId id="387" r:id="rId56"/>
    <p:sldId id="382" r:id="rId57"/>
    <p:sldId id="383" r:id="rId58"/>
    <p:sldId id="256" r:id="rId59"/>
  </p:sldIdLst>
  <p:sldSz cx="12192000" cy="6858000"/>
  <p:notesSz cx="7077075" cy="9363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BD3C9-A0FF-43CB-9068-1552A29AB7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417982-55F6-49FA-8C98-537C5C62D4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80E76-8306-4C38-83E7-3293636CF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F1584-7E2C-4234-8376-E6A90C7BE313}" type="datetimeFigureOut">
              <a:rPr lang="en-US" smtClean="0"/>
              <a:t>9/3/2019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87BEF-A487-4A3F-ABE4-5315D95B0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E1723E-A384-43C0-8010-982FB6287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13A95-5732-43C3-80AD-0D77832C8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125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34981-F7BB-4D13-B76D-0CA1465F3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B6020-A522-407D-89A0-5AFFA67A49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FA94E5-CE6D-4A9B-9AD1-453D8DA30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F1584-7E2C-4234-8376-E6A90C7BE313}" type="datetimeFigureOut">
              <a:rPr lang="en-US" smtClean="0"/>
              <a:t>9/3/2019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9709D-68FD-4B02-8A60-3A5682DD6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E27CCC-E3F4-45B5-B947-62CB3BD00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13A95-5732-43C3-80AD-0D77832C8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160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E1774-7BDD-4321-ACD0-E61206881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627C91-EC32-4972-BCC4-BEC51E3FB4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30C2CD-DBBD-495F-9ABA-3874A2E49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F1584-7E2C-4234-8376-E6A90C7BE313}" type="datetimeFigureOut">
              <a:rPr lang="en-US" smtClean="0"/>
              <a:t>9/3/2019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E64BF1-FF1D-46EA-827C-8395047D8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918B94-07D6-4CDC-A56A-8AACA022A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13A95-5732-43C3-80AD-0D77832C8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769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4F09E-3B9C-44DA-AC95-58CEFBCB0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DB342-B547-41BF-8236-2B5E7A4667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701368-EE7B-4C0E-BC57-7AFACB74B7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45F44-4620-4B40-BE48-347ABE519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F1584-7E2C-4234-8376-E6A90C7BE313}" type="datetimeFigureOut">
              <a:rPr lang="en-US" smtClean="0"/>
              <a:t>9/3/2019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E8EA6F-307B-426F-81DF-6C2BA1AA6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EF1017-4476-4770-87FE-4CC9BF57C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13A95-5732-43C3-80AD-0D77832C8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790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C1BDD-C122-457F-A8A0-10E2F4FE2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564018-34E0-4117-99CC-65F16A5146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974F49-EB3C-4EA9-BDD9-482D43AFAA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4EEFAE-58BF-4867-8A7A-3DC64CD59D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D6ADC6-6252-495A-B151-5328312055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388D7D-284B-4515-9BC8-4862F87FE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F1584-7E2C-4234-8376-E6A90C7BE313}" type="datetimeFigureOut">
              <a:rPr lang="en-US" smtClean="0"/>
              <a:t>9/3/2019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DE0B35-9F6A-45D6-95F1-F8F942A8A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DED8F4-88E8-4817-9A38-999328892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13A95-5732-43C3-80AD-0D77832C8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658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539D4-67C4-4E1E-A6BA-0B37335C7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F32E73-45BC-4A8F-B2C6-07E8BE827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F1584-7E2C-4234-8376-E6A90C7BE313}" type="datetimeFigureOut">
              <a:rPr lang="en-US" smtClean="0"/>
              <a:t>9/3/2019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B8D119-E599-4F0D-8D00-547498BBD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A4FBC5-AF27-4000-A088-C243B69AD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13A95-5732-43C3-80AD-0D77832C8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885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9DD204-254B-4334-9E0E-952665361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F1584-7E2C-4234-8376-E6A90C7BE313}" type="datetimeFigureOut">
              <a:rPr lang="en-US" smtClean="0"/>
              <a:t>9/3/2019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118692-CCDA-4BC6-8368-E61836337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AF5833-99C5-49B5-8DE8-3DCE03C00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13A95-5732-43C3-80AD-0D77832C8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83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CB49C-EB84-4DA3-AE0A-01911B8B7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A8CB8-1911-4852-9A6A-2084A3BFB7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201212-C294-46C7-8652-FC701E6FF3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44C1BD-EA73-4268-88D6-941712984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F1584-7E2C-4234-8376-E6A90C7BE313}" type="datetimeFigureOut">
              <a:rPr lang="en-US" smtClean="0"/>
              <a:t>9/3/2019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72FDCD-3C63-40CF-8796-B95110F58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656834-A195-4259-B9A2-492AA3A59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13A95-5732-43C3-80AD-0D77832C8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827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36667-0E61-4412-9689-E912DCAB0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3BB772-CE0D-4C61-B7EA-02F4A0F99A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7D52C8-E569-4746-8381-72458C81F0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16F6C0-3F92-4E96-8430-BCCE520D4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F1584-7E2C-4234-8376-E6A90C7BE313}" type="datetimeFigureOut">
              <a:rPr lang="en-US" smtClean="0"/>
              <a:t>9/3/2019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930DA0-88FD-4617-B3D3-D3E40A43C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877496-3E88-46A9-ADEC-2756A826D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13A95-5732-43C3-80AD-0D77832C8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956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6E09C-0785-4F55-8349-99E1E8417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D11158-DFBD-406F-B7A0-85382E551C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C91B9E-BA99-4307-BBE8-7EBC81ABE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F1584-7E2C-4234-8376-E6A90C7BE313}" type="datetimeFigureOut">
              <a:rPr lang="en-US" smtClean="0"/>
              <a:t>9/3/2019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9D450F-4A82-4810-850E-A6295FCB5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F155C-AECE-4099-8554-D29C46B71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13A95-5732-43C3-80AD-0D77832C8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249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F27FD0-ACCC-4C08-93F5-E2DC1626BC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2049ED-BD49-426B-AF4C-69C189E80B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800929-4054-46D4-8828-46ED05EDF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F1584-7E2C-4234-8376-E6A90C7BE313}" type="datetimeFigureOut">
              <a:rPr lang="en-US" smtClean="0"/>
              <a:t>9/3/2019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1E174-2B83-4050-8766-E693B5D8A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CB365-F81E-4481-A839-A30E28F68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13A95-5732-43C3-80AD-0D77832C8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0273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1690" y="456674"/>
            <a:ext cx="10380133" cy="864128"/>
          </a:xfrm>
          <a:prstGeom prst="rect">
            <a:avLst/>
          </a:prstGeom>
        </p:spPr>
        <p:txBody>
          <a:bodyPr vert="horz"/>
          <a:lstStyle>
            <a:lvl1pPr>
              <a:lnSpc>
                <a:spcPts val="3250"/>
              </a:lnSpc>
              <a:defRPr sz="3000" b="0" i="0" u="none" cap="all" baseline="0">
                <a:solidFill>
                  <a:srgbClr val="464544"/>
                </a:solidFill>
                <a:latin typeface="Helvetica"/>
                <a:cs typeface="Helvetica"/>
              </a:defRPr>
            </a:lvl1pPr>
          </a:lstStyle>
          <a:p>
            <a:pPr>
              <a:lnSpc>
                <a:spcPts val="3250"/>
              </a:lnSpc>
            </a:pPr>
            <a:r>
              <a:rPr lang="en-US" b="0" i="0" dirty="0"/>
              <a:t>TITLE HELVETICA REGULAR 30</a:t>
            </a:r>
            <a:br>
              <a:rPr lang="en-US" b="0" i="0" dirty="0"/>
            </a:br>
            <a:r>
              <a:rPr lang="en-US" b="0" i="0" dirty="0"/>
              <a:t>SECOND LINE</a:t>
            </a:r>
            <a:br>
              <a:rPr lang="en-US" b="0" i="0" dirty="0"/>
            </a:br>
            <a:endParaRPr lang="en-US" sz="3200" b="0" i="0" spc="140" baseline="0" dirty="0">
              <a:solidFill>
                <a:srgbClr val="3C3C3B"/>
              </a:solidFill>
              <a:latin typeface="Helvetica Neue"/>
              <a:cs typeface="Helvetica Neue"/>
            </a:endParaRPr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71690" y="1490132"/>
            <a:ext cx="9719733" cy="146315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600" b="1" i="0" u="none" kern="1200" spc="140" baseline="0">
                <a:solidFill>
                  <a:srgbClr val="4A6A7E"/>
                </a:solidFill>
                <a:latin typeface="Helvetica Light"/>
                <a:cs typeface="Helvetica Light"/>
              </a:defRPr>
            </a:lvl1pPr>
          </a:lstStyle>
          <a:p>
            <a:r>
              <a:rPr lang="en-US" b="0" i="0" dirty="0"/>
              <a:t>Presenter’s Name is Helvetica Light 16 Point</a:t>
            </a:r>
          </a:p>
          <a:p>
            <a:r>
              <a:rPr lang="en-US" b="0" i="0" dirty="0"/>
              <a:t>Presenter’s Title</a:t>
            </a:r>
          </a:p>
          <a:p>
            <a:r>
              <a:rPr lang="en-US" dirty="0"/>
              <a:t>Month Day, Year</a:t>
            </a:r>
          </a:p>
          <a:p>
            <a:r>
              <a:rPr lang="en-US" b="0" i="0" dirty="0"/>
              <a:t>Location of Presentation (optional)</a:t>
            </a:r>
          </a:p>
        </p:txBody>
      </p:sp>
      <p:pic>
        <p:nvPicPr>
          <p:cNvPr id="4" name="title bar" descr="powerpoint headline bar_r.2.jpg"/>
          <p:cNvPicPr>
            <a:picLocks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56674"/>
            <a:ext cx="12192000" cy="8755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48944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207EF5-3BD2-47B0-B432-6EF5F6665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64342A-B71B-4C3F-9A12-180BE0AB7C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D1BCC-7A96-408F-BA2E-FEAF398FC7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BF1584-7E2C-4234-8376-E6A90C7BE313}" type="datetimeFigureOut">
              <a:rPr lang="en-US" smtClean="0"/>
              <a:t>9/3/2019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3DFD50-53A4-4011-A1FF-B9EFAF9E75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2A1CE3-8C89-4FBA-97D5-34624DEE53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A13A95-5732-43C3-80AD-0D77832C8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22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5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6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38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/>
          </a:bodyPr>
          <a:lstStyle/>
          <a:p>
            <a:r>
              <a:rPr lang="en-US" b="1" dirty="0"/>
              <a:t> 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653872"/>
            <a:ext cx="11282901" cy="4635610"/>
          </a:xfrm>
        </p:spPr>
        <p:txBody>
          <a:bodyPr>
            <a:normAutofit/>
          </a:bodyPr>
          <a:lstStyle/>
          <a:p>
            <a:pPr algn="ctr"/>
            <a:endParaRPr lang="en-US" sz="2800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en-US" sz="4400" dirty="0">
                <a:solidFill>
                  <a:schemeClr val="accent1">
                    <a:lumMod val="75000"/>
                  </a:schemeClr>
                </a:solidFill>
              </a:rPr>
              <a:t>Airspace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 algn="ctr"/>
            <a:endParaRPr lang="en-US" sz="2800" dirty="0">
              <a:solidFill>
                <a:schemeClr val="accent1">
                  <a:lumMod val="75000"/>
                </a:schemeClr>
              </a:solidFill>
            </a:endParaRPr>
          </a:p>
          <a:p>
            <a:pPr marL="2286000" lvl="5" indent="0"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The Categories and types of airspace are dictated by:</a:t>
            </a:r>
          </a:p>
          <a:p>
            <a:pPr marL="2286000" lvl="5" indent="0">
              <a:buNone/>
            </a:pP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  <a:p>
            <a:pPr lvl="5"/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The complexity or density of aircraft operations</a:t>
            </a:r>
          </a:p>
          <a:p>
            <a:pPr lvl="5"/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The nature of the operations conducted within the airspace</a:t>
            </a:r>
          </a:p>
          <a:p>
            <a:pPr lvl="5"/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The level of safety required</a:t>
            </a:r>
          </a:p>
          <a:p>
            <a:pPr lvl="5"/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The national and public interest</a:t>
            </a:r>
          </a:p>
          <a:p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					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7760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A87B0B5-3722-4513-8E96-A2B2D80AC1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4776"/>
            <a:ext cx="12192000" cy="5048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058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Airspace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653872"/>
            <a:ext cx="11282901" cy="4635610"/>
          </a:xfrm>
        </p:spPr>
        <p:txBody>
          <a:bodyPr>
            <a:normAutofit/>
          </a:bodyPr>
          <a:lstStyle/>
          <a:p>
            <a:pPr algn="ctr"/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Four (4) Airspace Designations:</a:t>
            </a:r>
          </a:p>
          <a:p>
            <a:pPr algn="ctr"/>
            <a:endParaRPr lang="en-US" sz="28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					1. Controlled</a:t>
            </a:r>
          </a:p>
          <a:p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					2. Uncontrolled </a:t>
            </a:r>
          </a:p>
          <a:p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					3. Special Use</a:t>
            </a:r>
          </a:p>
          <a:p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 					4. “Other” Types</a:t>
            </a:r>
          </a:p>
          <a:p>
            <a:endParaRPr lang="en-US" sz="2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3620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Airspace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653872"/>
            <a:ext cx="11282901" cy="4635610"/>
          </a:xfrm>
        </p:spPr>
        <p:txBody>
          <a:bodyPr>
            <a:normAutofit/>
          </a:bodyPr>
          <a:lstStyle/>
          <a:p>
            <a:pPr algn="ctr"/>
            <a:endParaRPr lang="en-US" sz="2800" b="0" dirty="0"/>
          </a:p>
          <a:p>
            <a:pPr algn="ctr"/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Specific Types within the 4 Designations</a:t>
            </a:r>
          </a:p>
          <a:p>
            <a:pPr algn="ctr"/>
            <a:endParaRPr lang="en-US" sz="2800" dirty="0"/>
          </a:p>
          <a:p>
            <a:pPr lvl="7"/>
            <a:r>
              <a:rPr lang="en-US" sz="3000" dirty="0"/>
              <a:t> Controlled</a:t>
            </a:r>
            <a:r>
              <a:rPr lang="en-US" sz="3000" b="0" dirty="0"/>
              <a:t>:	 Class A, B, C, D, E</a:t>
            </a:r>
          </a:p>
          <a:p>
            <a:pPr lvl="7"/>
            <a:r>
              <a:rPr lang="en-US" sz="3000" dirty="0"/>
              <a:t> Uncontrolled</a:t>
            </a:r>
            <a:r>
              <a:rPr lang="en-US" sz="3000" b="0" dirty="0"/>
              <a:t>:	 Class G</a:t>
            </a:r>
          </a:p>
          <a:p>
            <a:pPr lvl="7"/>
            <a:r>
              <a:rPr lang="en-US" sz="3000" dirty="0"/>
              <a:t>  Special Use</a:t>
            </a:r>
          </a:p>
          <a:p>
            <a:pPr lvl="7"/>
            <a:r>
              <a:rPr lang="en-US" sz="3000" dirty="0"/>
              <a:t>  “</a:t>
            </a:r>
            <a:r>
              <a:rPr lang="en-US" sz="3000" dirty="0" err="1"/>
              <a:t>Other”Types</a:t>
            </a:r>
            <a:endParaRPr lang="en-US" sz="3000" dirty="0"/>
          </a:p>
          <a:p>
            <a:endParaRPr lang="en-US" sz="2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9456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Airspace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653872"/>
            <a:ext cx="11282901" cy="4635610"/>
          </a:xfrm>
        </p:spPr>
        <p:txBody>
          <a:bodyPr>
            <a:normAutofit fontScale="92500"/>
          </a:bodyPr>
          <a:lstStyle/>
          <a:p>
            <a:pPr algn="ctr"/>
            <a:r>
              <a:rPr lang="en-US" sz="2600" dirty="0">
                <a:solidFill>
                  <a:schemeClr val="accent1">
                    <a:lumMod val="75000"/>
                  </a:schemeClr>
                </a:solidFill>
              </a:rPr>
              <a:t>A simple memory aid guide to the </a:t>
            </a:r>
            <a:r>
              <a:rPr lang="en-US" sz="2600" i="1" dirty="0">
                <a:solidFill>
                  <a:schemeClr val="accent1">
                    <a:lumMod val="75000"/>
                  </a:schemeClr>
                </a:solidFill>
              </a:rPr>
              <a:t>Alphabet </a:t>
            </a:r>
            <a:r>
              <a:rPr lang="en-US" sz="2600" dirty="0">
                <a:solidFill>
                  <a:schemeClr val="accent1">
                    <a:lumMod val="75000"/>
                  </a:schemeClr>
                </a:solidFill>
              </a:rPr>
              <a:t>Airspace of the United States:</a:t>
            </a:r>
          </a:p>
          <a:p>
            <a:pPr>
              <a:lnSpc>
                <a:spcPct val="160000"/>
              </a:lnSpc>
            </a:pPr>
            <a:endParaRPr lang="en-US" b="0" dirty="0"/>
          </a:p>
          <a:p>
            <a:pPr>
              <a:lnSpc>
                <a:spcPct val="160000"/>
              </a:lnSpc>
            </a:pPr>
            <a:r>
              <a:rPr lang="en-US" b="0" dirty="0"/>
              <a:t>		</a:t>
            </a:r>
            <a:r>
              <a:rPr lang="en-US" sz="2100" dirty="0">
                <a:solidFill>
                  <a:schemeClr val="tx1"/>
                </a:solidFill>
              </a:rPr>
              <a:t>Class A Airspace:	 “</a:t>
            </a:r>
            <a:r>
              <a:rPr lang="en-US" sz="2100" u="sng" dirty="0">
                <a:solidFill>
                  <a:schemeClr val="tx1"/>
                </a:solidFill>
              </a:rPr>
              <a:t>A</a:t>
            </a:r>
            <a:r>
              <a:rPr lang="en-US" sz="2100" dirty="0">
                <a:solidFill>
                  <a:schemeClr val="tx1"/>
                </a:solidFill>
              </a:rPr>
              <a:t>” is for high “</a:t>
            </a:r>
            <a:r>
              <a:rPr lang="en-US" sz="2100" dirty="0" err="1">
                <a:solidFill>
                  <a:schemeClr val="tx1"/>
                </a:solidFill>
              </a:rPr>
              <a:t>A”ltitude</a:t>
            </a:r>
            <a:r>
              <a:rPr lang="en-US" sz="2100" dirty="0">
                <a:solidFill>
                  <a:schemeClr val="tx1"/>
                </a:solidFill>
              </a:rPr>
              <a:t> </a:t>
            </a:r>
          </a:p>
          <a:p>
            <a:pPr>
              <a:lnSpc>
                <a:spcPct val="160000"/>
              </a:lnSpc>
            </a:pPr>
            <a:r>
              <a:rPr lang="en-US" sz="2100" dirty="0">
                <a:solidFill>
                  <a:schemeClr val="tx1"/>
                </a:solidFill>
              </a:rPr>
              <a:t>		Class B Airspace:	 “</a:t>
            </a:r>
            <a:r>
              <a:rPr lang="en-US" sz="2100" u="sng" dirty="0">
                <a:solidFill>
                  <a:schemeClr val="tx1"/>
                </a:solidFill>
              </a:rPr>
              <a:t>B</a:t>
            </a:r>
            <a:r>
              <a:rPr lang="en-US" sz="2100" dirty="0">
                <a:solidFill>
                  <a:schemeClr val="tx1"/>
                </a:solidFill>
              </a:rPr>
              <a:t>” is for “</a:t>
            </a:r>
            <a:r>
              <a:rPr lang="en-US" sz="2100" dirty="0" err="1">
                <a:solidFill>
                  <a:schemeClr val="tx1"/>
                </a:solidFill>
              </a:rPr>
              <a:t>B”ig</a:t>
            </a:r>
            <a:r>
              <a:rPr lang="en-US" sz="2100" dirty="0">
                <a:solidFill>
                  <a:schemeClr val="tx1"/>
                </a:solidFill>
              </a:rPr>
              <a:t> Jets or “</a:t>
            </a:r>
            <a:r>
              <a:rPr lang="en-US" sz="2100" dirty="0" err="1">
                <a:solidFill>
                  <a:schemeClr val="tx1"/>
                </a:solidFill>
              </a:rPr>
              <a:t>B”ig</a:t>
            </a:r>
            <a:r>
              <a:rPr lang="en-US" sz="2100" dirty="0">
                <a:solidFill>
                  <a:schemeClr val="tx1"/>
                </a:solidFill>
              </a:rPr>
              <a:t> Cities</a:t>
            </a:r>
          </a:p>
          <a:p>
            <a:pPr>
              <a:lnSpc>
                <a:spcPct val="160000"/>
              </a:lnSpc>
            </a:pPr>
            <a:r>
              <a:rPr lang="en-US" sz="2100" dirty="0">
                <a:solidFill>
                  <a:schemeClr val="tx1"/>
                </a:solidFill>
              </a:rPr>
              <a:t>		Class C Airspace:	 “</a:t>
            </a:r>
            <a:r>
              <a:rPr lang="en-US" sz="2100" u="sng" dirty="0">
                <a:solidFill>
                  <a:schemeClr val="tx1"/>
                </a:solidFill>
              </a:rPr>
              <a:t>C</a:t>
            </a:r>
            <a:r>
              <a:rPr lang="en-US" sz="2100" dirty="0">
                <a:solidFill>
                  <a:schemeClr val="tx1"/>
                </a:solidFill>
              </a:rPr>
              <a:t>” is for “</a:t>
            </a:r>
            <a:r>
              <a:rPr lang="en-US" sz="2100" dirty="0" err="1">
                <a:solidFill>
                  <a:schemeClr val="tx1"/>
                </a:solidFill>
              </a:rPr>
              <a:t>C”ommuter</a:t>
            </a:r>
            <a:r>
              <a:rPr lang="en-US" sz="2100" dirty="0">
                <a:solidFill>
                  <a:schemeClr val="tx1"/>
                </a:solidFill>
              </a:rPr>
              <a:t> Jets or “</a:t>
            </a:r>
            <a:r>
              <a:rPr lang="en-US" sz="2100" dirty="0" err="1">
                <a:solidFill>
                  <a:schemeClr val="tx1"/>
                </a:solidFill>
              </a:rPr>
              <a:t>C”orporate</a:t>
            </a:r>
            <a:r>
              <a:rPr lang="en-US" sz="2100" dirty="0">
                <a:solidFill>
                  <a:schemeClr val="tx1"/>
                </a:solidFill>
              </a:rPr>
              <a:t> Jets</a:t>
            </a:r>
          </a:p>
          <a:p>
            <a:pPr>
              <a:lnSpc>
                <a:spcPct val="160000"/>
              </a:lnSpc>
            </a:pPr>
            <a:r>
              <a:rPr lang="en-US" sz="2100" dirty="0">
                <a:solidFill>
                  <a:schemeClr val="tx1"/>
                </a:solidFill>
              </a:rPr>
              <a:t>		Class D Airspace: 	“</a:t>
            </a:r>
            <a:r>
              <a:rPr lang="en-US" sz="2100" u="sng" dirty="0">
                <a:solidFill>
                  <a:schemeClr val="tx1"/>
                </a:solidFill>
              </a:rPr>
              <a:t>D</a:t>
            </a:r>
            <a:r>
              <a:rPr lang="en-US" sz="2100" dirty="0">
                <a:solidFill>
                  <a:schemeClr val="tx1"/>
                </a:solidFill>
              </a:rPr>
              <a:t>” is for “</a:t>
            </a:r>
            <a:r>
              <a:rPr lang="en-US" sz="2100" dirty="0" err="1">
                <a:solidFill>
                  <a:schemeClr val="tx1"/>
                </a:solidFill>
              </a:rPr>
              <a:t>D”ialogue</a:t>
            </a:r>
            <a:r>
              <a:rPr lang="en-US" sz="2100" dirty="0">
                <a:solidFill>
                  <a:schemeClr val="tx1"/>
                </a:solidFill>
              </a:rPr>
              <a:t> with the Control Tower</a:t>
            </a:r>
          </a:p>
          <a:p>
            <a:pPr>
              <a:lnSpc>
                <a:spcPct val="160000"/>
              </a:lnSpc>
            </a:pPr>
            <a:r>
              <a:rPr lang="en-US" sz="2100" dirty="0">
                <a:solidFill>
                  <a:schemeClr val="tx1"/>
                </a:solidFill>
              </a:rPr>
              <a:t>		Class E Airspace:	 “</a:t>
            </a:r>
            <a:r>
              <a:rPr lang="en-US" sz="2100" u="sng" dirty="0">
                <a:solidFill>
                  <a:schemeClr val="tx1"/>
                </a:solidFill>
              </a:rPr>
              <a:t>E</a:t>
            </a:r>
            <a:r>
              <a:rPr lang="en-US" sz="2100" dirty="0">
                <a:solidFill>
                  <a:schemeClr val="tx1"/>
                </a:solidFill>
              </a:rPr>
              <a:t>” is for “</a:t>
            </a:r>
            <a:r>
              <a:rPr lang="en-US" sz="2100" dirty="0" err="1">
                <a:solidFill>
                  <a:schemeClr val="tx1"/>
                </a:solidFill>
              </a:rPr>
              <a:t>E”lsewhere</a:t>
            </a:r>
            <a:endParaRPr lang="en-US" sz="2100" dirty="0">
              <a:solidFill>
                <a:schemeClr val="tx1"/>
              </a:solidFill>
            </a:endParaRPr>
          </a:p>
          <a:p>
            <a:pPr>
              <a:lnSpc>
                <a:spcPct val="160000"/>
              </a:lnSpc>
            </a:pPr>
            <a:r>
              <a:rPr lang="en-US" sz="2100" dirty="0">
                <a:solidFill>
                  <a:schemeClr val="tx1"/>
                </a:solidFill>
              </a:rPr>
              <a:t>		Class G Airspace:	 “</a:t>
            </a:r>
            <a:r>
              <a:rPr lang="en-US" sz="2100" u="sng" dirty="0">
                <a:solidFill>
                  <a:schemeClr val="tx1"/>
                </a:solidFill>
              </a:rPr>
              <a:t>G</a:t>
            </a:r>
            <a:r>
              <a:rPr lang="en-US" sz="2100" dirty="0">
                <a:solidFill>
                  <a:schemeClr val="tx1"/>
                </a:solidFill>
              </a:rPr>
              <a:t>” for “</a:t>
            </a:r>
            <a:r>
              <a:rPr lang="en-US" sz="2100" dirty="0" err="1">
                <a:solidFill>
                  <a:schemeClr val="tx1"/>
                </a:solidFill>
              </a:rPr>
              <a:t>G”round</a:t>
            </a:r>
            <a:r>
              <a:rPr lang="en-US" sz="2100" dirty="0">
                <a:solidFill>
                  <a:schemeClr val="tx1"/>
                </a:solidFill>
              </a:rPr>
              <a:t> level </a:t>
            </a:r>
            <a:r>
              <a:rPr lang="en-US" sz="2100" dirty="0"/>
              <a:t>		</a:t>
            </a:r>
          </a:p>
          <a:p>
            <a:endParaRPr lang="en-US" sz="2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3640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Airspace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526650"/>
            <a:ext cx="11282901" cy="5104738"/>
          </a:xfrm>
        </p:spPr>
        <p:txBody>
          <a:bodyPr>
            <a:normAutofit/>
          </a:bodyPr>
          <a:lstStyle/>
          <a:p>
            <a:pPr algn="ctr"/>
            <a:r>
              <a:rPr lang="en-US" sz="1200" dirty="0">
                <a:solidFill>
                  <a:srgbClr val="FF0000"/>
                </a:solidFill>
              </a:rPr>
              <a:t>Class E Airspace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--------------------------------------FL 600 (i.e. 60,000 ft </a:t>
            </a:r>
            <a:r>
              <a:rPr lang="en-US" sz="1400" dirty="0">
                <a:solidFill>
                  <a:schemeClr val="tx1"/>
                </a:solidFill>
              </a:rPr>
              <a:t>MSL</a:t>
            </a:r>
            <a:r>
              <a:rPr lang="en-US" sz="2000" dirty="0">
                <a:solidFill>
                  <a:schemeClr val="tx1"/>
                </a:solidFill>
              </a:rPr>
              <a:t>)--------------------</a:t>
            </a:r>
          </a:p>
          <a:p>
            <a:pPr algn="ctr"/>
            <a:endParaRPr lang="en-US" sz="2000" dirty="0">
              <a:solidFill>
                <a:srgbClr val="FF0000"/>
              </a:solidFill>
            </a:endParaRPr>
          </a:p>
          <a:p>
            <a:pPr algn="ctr"/>
            <a:r>
              <a:rPr lang="en-US" sz="2000" dirty="0">
                <a:solidFill>
                  <a:srgbClr val="FF0000"/>
                </a:solidFill>
              </a:rPr>
              <a:t>Class A Airspace</a:t>
            </a:r>
          </a:p>
          <a:p>
            <a:pPr algn="ctr"/>
            <a:endParaRPr lang="en-US" sz="2000" dirty="0">
              <a:solidFill>
                <a:srgbClr val="FF0000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--------------------------------------FL 180 (i.e. 18, 000 </a:t>
            </a:r>
            <a:r>
              <a:rPr lang="en-US" sz="1400" dirty="0">
                <a:solidFill>
                  <a:schemeClr val="tx1"/>
                </a:solidFill>
              </a:rPr>
              <a:t>MSL</a:t>
            </a:r>
            <a:r>
              <a:rPr lang="en-US" sz="2000" dirty="0">
                <a:solidFill>
                  <a:schemeClr val="tx1"/>
                </a:solidFill>
              </a:rPr>
              <a:t>)----------------------</a:t>
            </a:r>
          </a:p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--------------------------------------Earth Surface------------------------------------</a:t>
            </a:r>
          </a:p>
          <a:p>
            <a:r>
              <a:rPr lang="en-US" sz="1800" u="sng" dirty="0">
                <a:solidFill>
                  <a:schemeClr val="tx1"/>
                </a:solidFill>
              </a:rPr>
              <a:t>Operation Requirements for Class A Airspace</a:t>
            </a:r>
          </a:p>
          <a:p>
            <a:r>
              <a:rPr lang="en-US" sz="1800" dirty="0">
                <a:solidFill>
                  <a:schemeClr val="tx1"/>
                </a:solidFill>
              </a:rPr>
              <a:t>1) Pilot must be Instrument Rated</a:t>
            </a:r>
          </a:p>
          <a:p>
            <a:r>
              <a:rPr lang="en-US" sz="1800" dirty="0">
                <a:solidFill>
                  <a:schemeClr val="tx1"/>
                </a:solidFill>
              </a:rPr>
              <a:t>2) Aircraft must be equipped for IFR</a:t>
            </a:r>
          </a:p>
          <a:p>
            <a:r>
              <a:rPr lang="en-US" sz="1800" dirty="0">
                <a:solidFill>
                  <a:schemeClr val="tx1"/>
                </a:solidFill>
              </a:rPr>
              <a:t>3) Flight must be cleared on an IFR Flight Plan</a:t>
            </a:r>
          </a:p>
          <a:p>
            <a:r>
              <a:rPr lang="en-US" sz="1800" dirty="0">
                <a:solidFill>
                  <a:schemeClr val="tx1"/>
                </a:solidFill>
              </a:rPr>
              <a:t>4) All Aircraft set Altimeters to 29.92”</a:t>
            </a:r>
          </a:p>
        </p:txBody>
      </p:sp>
    </p:spTree>
    <p:extLst>
      <p:ext uri="{BB962C8B-B14F-4D97-AF65-F5344CB8AC3E}">
        <p14:creationId xmlns:p14="http://schemas.microsoft.com/office/powerpoint/2010/main" val="4188355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4D97387-558E-48CA-A6A8-3A0CE36E1D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333232"/>
            <a:ext cx="7362908" cy="619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800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Airspace – Class B (Bravo)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653872"/>
            <a:ext cx="11282901" cy="4635610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tx1"/>
                </a:solidFill>
              </a:rPr>
              <a:t>Class B Airspace</a:t>
            </a:r>
          </a:p>
          <a:p>
            <a:endParaRPr lang="en-US" sz="3200" b="0" dirty="0"/>
          </a:p>
          <a:p>
            <a:pPr marL="2057400" lvl="3" indent="-457200"/>
            <a:r>
              <a:rPr lang="en-US" sz="3000" dirty="0">
                <a:solidFill>
                  <a:schemeClr val="tx1"/>
                </a:solidFill>
              </a:rPr>
              <a:t>is depicted on the charts by solid blue concentric rings</a:t>
            </a:r>
          </a:p>
          <a:p>
            <a:pPr lvl="3" indent="0">
              <a:buNone/>
            </a:pPr>
            <a:endParaRPr lang="en-US" sz="3000" dirty="0">
              <a:solidFill>
                <a:schemeClr val="tx1"/>
              </a:solidFill>
            </a:endParaRPr>
          </a:p>
          <a:p>
            <a:pPr marL="2057400" lvl="3" indent="-457200"/>
            <a:r>
              <a:rPr lang="en-US" sz="3000" dirty="0">
                <a:solidFill>
                  <a:schemeClr val="tx1"/>
                </a:solidFill>
              </a:rPr>
              <a:t>Shape of each site is individually designed.</a:t>
            </a:r>
          </a:p>
          <a:p>
            <a:pPr lvl="3" indent="0">
              <a:buNone/>
            </a:pPr>
            <a:r>
              <a:rPr lang="en-US" sz="3000" dirty="0">
                <a:solidFill>
                  <a:schemeClr val="tx1"/>
                </a:solidFill>
              </a:rPr>
              <a:t>		</a:t>
            </a:r>
          </a:p>
          <a:p>
            <a:pPr marL="2057400" lvl="3" indent="-457200"/>
            <a:r>
              <a:rPr lang="en-US" sz="3000" dirty="0">
                <a:solidFill>
                  <a:schemeClr val="tx1"/>
                </a:solidFill>
              </a:rPr>
              <a:t>Vertically, the airspace is shaped much like an upside down </a:t>
            </a:r>
            <a:r>
              <a:rPr lang="en-US" sz="3000" i="1" dirty="0">
                <a:solidFill>
                  <a:schemeClr val="tx1"/>
                </a:solidFill>
              </a:rPr>
              <a:t>wedding cake</a:t>
            </a:r>
            <a:r>
              <a:rPr lang="en-US" sz="3000" dirty="0">
                <a:solidFill>
                  <a:schemeClr val="tx1"/>
                </a:solidFill>
              </a:rPr>
              <a:t>, with sectors affecting specific altitudes.</a:t>
            </a:r>
          </a:p>
        </p:txBody>
      </p:sp>
    </p:spTree>
    <p:extLst>
      <p:ext uri="{BB962C8B-B14F-4D97-AF65-F5344CB8AC3E}">
        <p14:creationId xmlns:p14="http://schemas.microsoft.com/office/powerpoint/2010/main" val="20523254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Airspace – Class B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685678"/>
            <a:ext cx="11282901" cy="4635610"/>
          </a:xfrm>
        </p:spPr>
        <p:txBody>
          <a:bodyPr>
            <a:normAutofit/>
          </a:bodyPr>
          <a:lstStyle/>
          <a:p>
            <a:r>
              <a:rPr lang="en-US" sz="2400" u="sng" dirty="0">
                <a:solidFill>
                  <a:schemeClr val="accent1">
                    <a:lumMod val="75000"/>
                  </a:schemeClr>
                </a:solidFill>
              </a:rPr>
              <a:t>Operation Requirements for Class B Airspace:</a:t>
            </a:r>
          </a:p>
          <a:p>
            <a:r>
              <a:rPr lang="en-US" sz="2000" dirty="0">
                <a:solidFill>
                  <a:schemeClr val="tx1"/>
                </a:solidFill>
              </a:rPr>
              <a:t>	1) Typically surface to 10,000’ MSL surrounding the busiest airports</a:t>
            </a:r>
          </a:p>
          <a:p>
            <a:r>
              <a:rPr lang="en-US" sz="2000" dirty="0">
                <a:solidFill>
                  <a:schemeClr val="tx1"/>
                </a:solidFill>
              </a:rPr>
              <a:t>	2) The Pilot must be authorized to Enter</a:t>
            </a:r>
          </a:p>
          <a:p>
            <a:r>
              <a:rPr lang="en-US" sz="2000" dirty="0">
                <a:solidFill>
                  <a:schemeClr val="tx1"/>
                </a:solidFill>
              </a:rPr>
              <a:t>		(You must hear ATC say “NXXXXX is cleared into Class B)</a:t>
            </a:r>
          </a:p>
          <a:p>
            <a:r>
              <a:rPr lang="en-US" sz="2000" dirty="0">
                <a:solidFill>
                  <a:schemeClr val="tx1"/>
                </a:solidFill>
              </a:rPr>
              <a:t>	3) All aircraft operating within 30 nm of the Primary Airport must have</a:t>
            </a:r>
          </a:p>
          <a:p>
            <a:r>
              <a:rPr lang="en-US" sz="2000" dirty="0">
                <a:solidFill>
                  <a:schemeClr val="tx1"/>
                </a:solidFill>
              </a:rPr>
              <a:t>		an operable Mode C Transponder. </a:t>
            </a:r>
            <a:r>
              <a:rPr lang="en-US" sz="1400" dirty="0">
                <a:solidFill>
                  <a:schemeClr val="tx1"/>
                </a:solidFill>
              </a:rPr>
              <a:t>(under or over Class B)</a:t>
            </a:r>
          </a:p>
          <a:p>
            <a:r>
              <a:rPr lang="en-US" sz="2000" dirty="0">
                <a:solidFill>
                  <a:schemeClr val="tx1"/>
                </a:solidFill>
              </a:rPr>
              <a:t>	4) VFR Pilots must comply with Part 91 Visibility and Cloud Clearance 				Requirements. 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(</a:t>
            </a:r>
            <a:r>
              <a:rPr lang="en-US" sz="2000" i="1" dirty="0">
                <a:solidFill>
                  <a:schemeClr val="accent1">
                    <a:lumMod val="75000"/>
                  </a:schemeClr>
                </a:solidFill>
              </a:rPr>
              <a:t>3 Miles Visibility and Operate Clear of Clouds)</a:t>
            </a:r>
          </a:p>
          <a:p>
            <a:r>
              <a:rPr lang="en-US" sz="2000" dirty="0">
                <a:solidFill>
                  <a:schemeClr val="tx1"/>
                </a:solidFill>
              </a:rPr>
              <a:t>	5) The pilot must be a certificated Private Pilot or an </a:t>
            </a:r>
            <a:r>
              <a:rPr lang="en-US" sz="2000" i="1" u="sng" dirty="0">
                <a:solidFill>
                  <a:schemeClr val="tx1"/>
                </a:solidFill>
              </a:rPr>
              <a:t>appropriately endorsed </a:t>
            </a:r>
            <a:r>
              <a:rPr lang="en-US" sz="2000" i="1" dirty="0">
                <a:solidFill>
                  <a:schemeClr val="tx1"/>
                </a:solidFill>
              </a:rPr>
              <a:t>			</a:t>
            </a:r>
            <a:r>
              <a:rPr lang="en-US" sz="2000" dirty="0">
                <a:solidFill>
                  <a:schemeClr val="tx1"/>
                </a:solidFill>
              </a:rPr>
              <a:t>Student Pilot.  Some Class B Airports prohibit Student Pilot Operations, 			(see the AIM </a:t>
            </a:r>
            <a:r>
              <a:rPr lang="en-US" sz="1200" dirty="0">
                <a:solidFill>
                  <a:schemeClr val="tx1"/>
                </a:solidFill>
              </a:rPr>
              <a:t>(appendix D.4 for part 91, </a:t>
            </a:r>
            <a:r>
              <a:rPr lang="en-US" sz="1200" dirty="0" err="1">
                <a:solidFill>
                  <a:schemeClr val="tx1"/>
                </a:solidFill>
              </a:rPr>
              <a:t>pg</a:t>
            </a:r>
            <a:r>
              <a:rPr lang="en-US" sz="1200" dirty="0">
                <a:solidFill>
                  <a:schemeClr val="tx1"/>
                </a:solidFill>
              </a:rPr>
              <a:t> 294)</a:t>
            </a:r>
            <a:r>
              <a:rPr lang="en-US" sz="2000" dirty="0">
                <a:solidFill>
                  <a:schemeClr val="tx1"/>
                </a:solidFill>
              </a:rPr>
              <a:t> for a listing of these.)</a:t>
            </a:r>
          </a:p>
          <a:p>
            <a:r>
              <a:rPr lang="en-US" sz="2000" dirty="0">
                <a:solidFill>
                  <a:schemeClr val="tx1"/>
                </a:solidFill>
              </a:rPr>
              <a:t>	6) IFR Operations require an operating VOR receiver or suitable RNAV system</a:t>
            </a:r>
          </a:p>
        </p:txBody>
      </p:sp>
    </p:spTree>
    <p:extLst>
      <p:ext uri="{BB962C8B-B14F-4D97-AF65-F5344CB8AC3E}">
        <p14:creationId xmlns:p14="http://schemas.microsoft.com/office/powerpoint/2010/main" val="24287041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62F78E2-C8A8-4608-A230-2A5E69711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6034" y="189689"/>
            <a:ext cx="9901627" cy="647862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E5E4871-5947-4724-9D39-ABCABB2C2098}"/>
              </a:ext>
            </a:extLst>
          </p:cNvPr>
          <p:cNvSpPr/>
          <p:nvPr/>
        </p:nvSpPr>
        <p:spPr>
          <a:xfrm>
            <a:off x="86790" y="476657"/>
            <a:ext cx="1946291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u="sng" dirty="0"/>
              <a:t>Sector Altitudes</a:t>
            </a:r>
          </a:p>
          <a:p>
            <a:endParaRPr lang="en-US" sz="1600" u="sng" dirty="0"/>
          </a:p>
          <a:p>
            <a:r>
              <a:rPr lang="en-US" sz="1600" u="sng" dirty="0"/>
              <a:t>100</a:t>
            </a:r>
            <a:r>
              <a:rPr lang="en-US" sz="1600" dirty="0"/>
              <a:t>   Top of Sector</a:t>
            </a:r>
            <a:endParaRPr lang="en-US" sz="1600" u="sng" dirty="0"/>
          </a:p>
          <a:p>
            <a:r>
              <a:rPr lang="en-US" sz="1600" dirty="0"/>
              <a:t>SFC    Base of Sector  </a:t>
            </a:r>
          </a:p>
          <a:p>
            <a:endParaRPr lang="en-US" sz="1600" dirty="0"/>
          </a:p>
          <a:p>
            <a:r>
              <a:rPr lang="en-US" sz="1600" u="sng" dirty="0"/>
              <a:t>100</a:t>
            </a:r>
            <a:r>
              <a:rPr lang="en-US" sz="1600" dirty="0"/>
              <a:t>   Top of Sector</a:t>
            </a:r>
            <a:endParaRPr lang="en-US" sz="1600" u="sng" dirty="0"/>
          </a:p>
          <a:p>
            <a:r>
              <a:rPr lang="en-US" sz="1600" dirty="0"/>
              <a:t> 20     Base of Sector  </a:t>
            </a:r>
          </a:p>
        </p:txBody>
      </p:sp>
    </p:spTree>
    <p:extLst>
      <p:ext uri="{BB962C8B-B14F-4D97-AF65-F5344CB8AC3E}">
        <p14:creationId xmlns:p14="http://schemas.microsoft.com/office/powerpoint/2010/main" val="19278807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31A3460-86A7-48B5-B9B9-F916E044D0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1538" y="503448"/>
            <a:ext cx="6653688" cy="5851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8288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Airspace – Class C (Charlie)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653872"/>
            <a:ext cx="11282901" cy="4635610"/>
          </a:xfrm>
        </p:spPr>
        <p:txBody>
          <a:bodyPr>
            <a:normAutofit fontScale="92500" lnSpcReduction="20000"/>
          </a:bodyPr>
          <a:lstStyle/>
          <a:p>
            <a:r>
              <a:rPr lang="en-US" sz="3200" dirty="0">
                <a:solidFill>
                  <a:schemeClr val="tx1"/>
                </a:solidFill>
              </a:rPr>
              <a:t>Class C Airspace</a:t>
            </a:r>
          </a:p>
          <a:p>
            <a:r>
              <a:rPr lang="en-US" sz="3200" b="0" dirty="0"/>
              <a:t>		</a:t>
            </a:r>
            <a:r>
              <a:rPr lang="en-US" sz="3200" dirty="0">
                <a:solidFill>
                  <a:schemeClr val="tx1"/>
                </a:solidFill>
              </a:rPr>
              <a:t>- </a:t>
            </a:r>
            <a:r>
              <a:rPr lang="en-US" sz="3000" dirty="0">
                <a:solidFill>
                  <a:schemeClr val="tx1"/>
                </a:solidFill>
              </a:rPr>
              <a:t>surrounding airport with operational control tower 			  and serviced by radar approach control </a:t>
            </a:r>
          </a:p>
          <a:p>
            <a:r>
              <a:rPr lang="en-US" sz="3000" dirty="0">
                <a:solidFill>
                  <a:schemeClr val="tx1"/>
                </a:solidFill>
              </a:rPr>
              <a:t>		- is depicted by two solid magenta rings,</a:t>
            </a:r>
          </a:p>
          <a:p>
            <a:r>
              <a:rPr lang="en-US" sz="3000" dirty="0">
                <a:solidFill>
                  <a:schemeClr val="tx1"/>
                </a:solidFill>
              </a:rPr>
              <a:t>		- Airspace dimensions usually include:</a:t>
            </a:r>
          </a:p>
          <a:p>
            <a:endParaRPr lang="en-US" sz="3200" dirty="0">
              <a:solidFill>
                <a:schemeClr val="tx1"/>
              </a:solidFill>
            </a:endParaRPr>
          </a:p>
          <a:p>
            <a:pPr marL="2971800" lvl="5" indent="-457200"/>
            <a:r>
              <a:rPr lang="en-US" sz="2800" dirty="0">
                <a:solidFill>
                  <a:schemeClr val="tx1"/>
                </a:solidFill>
              </a:rPr>
              <a:t>5 NM radius core, surface to 4,000’ AGL</a:t>
            </a:r>
          </a:p>
          <a:p>
            <a:pPr marL="2971800" lvl="5" indent="-457200"/>
            <a:r>
              <a:rPr lang="en-US" sz="2800" dirty="0">
                <a:solidFill>
                  <a:schemeClr val="tx1"/>
                </a:solidFill>
              </a:rPr>
              <a:t>10 NM radius shelf area, 1,200’ AGL to 4,000’ AGL</a:t>
            </a:r>
          </a:p>
          <a:p>
            <a:pPr marL="2971800" lvl="5" indent="-457200"/>
            <a:r>
              <a:rPr lang="en-US" sz="2800" dirty="0"/>
              <a:t>20 NM radius procedural “Outer Area” recommended but not compulsory initial contact point with ATC </a:t>
            </a:r>
            <a:r>
              <a:rPr lang="en-US" sz="2800" dirty="0">
                <a:solidFill>
                  <a:schemeClr val="tx1"/>
                </a:solidFill>
              </a:rPr>
              <a:t>	</a:t>
            </a:r>
            <a:r>
              <a:rPr lang="en-US" sz="3400" dirty="0">
                <a:solidFill>
                  <a:schemeClr val="tx1"/>
                </a:solidFill>
              </a:rPr>
              <a:t>	</a:t>
            </a:r>
          </a:p>
          <a:p>
            <a:r>
              <a:rPr lang="en-US" sz="3200" dirty="0">
                <a:solidFill>
                  <a:schemeClr val="tx1"/>
                </a:solidFill>
              </a:rPr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19205234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7D7A8D8-F753-4D9F-9829-30D118048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3140795" y="-2369457"/>
            <a:ext cx="6082028" cy="115062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D156647-2363-44A9-960A-760393265EB0}"/>
              </a:ext>
            </a:extLst>
          </p:cNvPr>
          <p:cNvSpPr txBox="1"/>
          <p:nvPr/>
        </p:nvSpPr>
        <p:spPr>
          <a:xfrm>
            <a:off x="7458323" y="2250218"/>
            <a:ext cx="993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 NM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188252-1377-4923-9913-B470E44F2A7E}"/>
              </a:ext>
            </a:extLst>
          </p:cNvPr>
          <p:cNvSpPr txBox="1"/>
          <p:nvPr/>
        </p:nvSpPr>
        <p:spPr>
          <a:xfrm>
            <a:off x="1009816" y="3554233"/>
            <a:ext cx="13437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1,200’ AGL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FD8477-E103-4584-A57A-CB4F15C3BC53}"/>
              </a:ext>
            </a:extLst>
          </p:cNvPr>
          <p:cNvSpPr txBox="1"/>
          <p:nvPr/>
        </p:nvSpPr>
        <p:spPr>
          <a:xfrm>
            <a:off x="4063117" y="993912"/>
            <a:ext cx="1049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 NM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FD0A3C-1C29-42AE-8C91-D0F477D4813F}"/>
              </a:ext>
            </a:extLst>
          </p:cNvPr>
          <p:cNvSpPr txBox="1"/>
          <p:nvPr/>
        </p:nvSpPr>
        <p:spPr>
          <a:xfrm>
            <a:off x="4733678" y="2250218"/>
            <a:ext cx="993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 NM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AE0B18-B22E-4F43-BF27-0E6C9C57F938}"/>
              </a:ext>
            </a:extLst>
          </p:cNvPr>
          <p:cNvSpPr txBox="1"/>
          <p:nvPr/>
        </p:nvSpPr>
        <p:spPr>
          <a:xfrm>
            <a:off x="8253454" y="4929809"/>
            <a:ext cx="2751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4,000’ AGL</a:t>
            </a:r>
          </a:p>
        </p:txBody>
      </p:sp>
    </p:spTree>
    <p:extLst>
      <p:ext uri="{BB962C8B-B14F-4D97-AF65-F5344CB8AC3E}">
        <p14:creationId xmlns:p14="http://schemas.microsoft.com/office/powerpoint/2010/main" val="24861120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Airspace – Class C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653872"/>
            <a:ext cx="11282901" cy="4635610"/>
          </a:xfrm>
        </p:spPr>
        <p:txBody>
          <a:bodyPr>
            <a:normAutofit/>
          </a:bodyPr>
          <a:lstStyle/>
          <a:p>
            <a:r>
              <a:rPr lang="en-US" sz="2400" u="sng" dirty="0">
                <a:solidFill>
                  <a:schemeClr val="accent1">
                    <a:lumMod val="75000"/>
                  </a:schemeClr>
                </a:solidFill>
              </a:rPr>
              <a:t>Operation Requirements for Class C Airspace:</a:t>
            </a:r>
          </a:p>
          <a:p>
            <a:endParaRPr lang="en-US" sz="2400" u="sng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	1)</a:t>
            </a:r>
            <a:r>
              <a:rPr lang="en-US" b="0" dirty="0"/>
              <a:t> </a:t>
            </a:r>
            <a:r>
              <a:rPr lang="en-US" sz="2000" dirty="0">
                <a:solidFill>
                  <a:schemeClr val="tx1"/>
                </a:solidFill>
              </a:rPr>
              <a:t>Pilot must establish Two Way Communications with the ATC</a:t>
            </a:r>
          </a:p>
          <a:p>
            <a:r>
              <a:rPr lang="en-US" sz="2000" dirty="0">
                <a:solidFill>
                  <a:schemeClr val="tx1"/>
                </a:solidFill>
              </a:rPr>
              <a:t>		Controlling Agency prior to entering.</a:t>
            </a:r>
          </a:p>
          <a:p>
            <a:r>
              <a:rPr lang="en-US" sz="2000" dirty="0">
                <a:solidFill>
                  <a:schemeClr val="tx1"/>
                </a:solidFill>
              </a:rPr>
              <a:t>		</a:t>
            </a:r>
            <a:r>
              <a:rPr lang="en-US" dirty="0">
                <a:solidFill>
                  <a:schemeClr val="tx1"/>
                </a:solidFill>
              </a:rPr>
              <a:t>(note: This is different from the required clearance for entering Class B)</a:t>
            </a:r>
          </a:p>
          <a:p>
            <a:r>
              <a:rPr lang="en-US" sz="2000" dirty="0">
                <a:solidFill>
                  <a:schemeClr val="tx1"/>
                </a:solidFill>
              </a:rPr>
              <a:t>	2) All aircraft operating within Class C or Over flying Class C must have an</a:t>
            </a:r>
          </a:p>
          <a:p>
            <a:r>
              <a:rPr lang="en-US" sz="2000" dirty="0">
                <a:solidFill>
                  <a:schemeClr val="tx1"/>
                </a:solidFill>
              </a:rPr>
              <a:t>		operable Mode C Transponder.</a:t>
            </a:r>
          </a:p>
          <a:p>
            <a:r>
              <a:rPr lang="en-US" sz="2000" dirty="0">
                <a:solidFill>
                  <a:schemeClr val="tx1"/>
                </a:solidFill>
              </a:rPr>
              <a:t>	4) Two Way Communication with ATC not required when overflying Class C</a:t>
            </a:r>
          </a:p>
          <a:p>
            <a:r>
              <a:rPr lang="en-US" sz="2000" dirty="0">
                <a:solidFill>
                  <a:schemeClr val="tx1"/>
                </a:solidFill>
              </a:rPr>
              <a:t>	3) VFR Pilots must comply with minimum visibility and cloud clearance</a:t>
            </a:r>
          </a:p>
          <a:p>
            <a:r>
              <a:rPr lang="en-US" sz="2000" dirty="0">
                <a:solidFill>
                  <a:schemeClr val="tx1"/>
                </a:solidFill>
              </a:rPr>
              <a:t>	    requirements to operate in Class C (see FAR 91.155)   </a:t>
            </a:r>
            <a:r>
              <a:rPr lang="en-US" sz="1800" dirty="0">
                <a:solidFill>
                  <a:schemeClr val="tx1"/>
                </a:solidFill>
              </a:rPr>
              <a:t>3-152 Rule</a:t>
            </a:r>
          </a:p>
        </p:txBody>
      </p:sp>
    </p:spTree>
    <p:extLst>
      <p:ext uri="{BB962C8B-B14F-4D97-AF65-F5344CB8AC3E}">
        <p14:creationId xmlns:p14="http://schemas.microsoft.com/office/powerpoint/2010/main" val="3520728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994DEB6-8720-43BB-8A8D-BAC6955EF000}"/>
              </a:ext>
            </a:extLst>
          </p:cNvPr>
          <p:cNvSpPr txBox="1"/>
          <p:nvPr/>
        </p:nvSpPr>
        <p:spPr>
          <a:xfrm>
            <a:off x="155643" y="508882"/>
            <a:ext cx="24921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Sector Altitudes</a:t>
            </a:r>
          </a:p>
          <a:p>
            <a:endParaRPr lang="en-US" dirty="0"/>
          </a:p>
          <a:p>
            <a:r>
              <a:rPr lang="en-US" u="sng" dirty="0"/>
              <a:t> 48 </a:t>
            </a:r>
            <a:r>
              <a:rPr lang="en-US" dirty="0"/>
              <a:t>     Top of Sector</a:t>
            </a:r>
            <a:endParaRPr lang="en-US" u="sng" dirty="0"/>
          </a:p>
          <a:p>
            <a:r>
              <a:rPr lang="en-US" dirty="0"/>
              <a:t> 20     Base of Sector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D81F45-E49A-4F1E-AF5B-530555AD6E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5343" y="110005"/>
            <a:ext cx="9144291" cy="6669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4582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BF29B2D-81AD-4131-A3A8-253F9F1E10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5467" y="515035"/>
            <a:ext cx="4945865" cy="582793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14CA8F8-19EA-4FB9-842C-B8592E9EB47C}"/>
              </a:ext>
            </a:extLst>
          </p:cNvPr>
          <p:cNvSpPr txBox="1"/>
          <p:nvPr/>
        </p:nvSpPr>
        <p:spPr>
          <a:xfrm>
            <a:off x="1129085" y="1598212"/>
            <a:ext cx="34349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Surface to 2,500’ AGL</a:t>
            </a:r>
          </a:p>
          <a:p>
            <a:r>
              <a:rPr lang="en-US" dirty="0"/>
              <a:t>- Typically 4 nm radius from airport</a:t>
            </a:r>
          </a:p>
        </p:txBody>
      </p:sp>
    </p:spTree>
    <p:extLst>
      <p:ext uri="{BB962C8B-B14F-4D97-AF65-F5344CB8AC3E}">
        <p14:creationId xmlns:p14="http://schemas.microsoft.com/office/powerpoint/2010/main" val="30037882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Airspace – Class D (Delta)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653872"/>
            <a:ext cx="11282901" cy="4635610"/>
          </a:xfrm>
        </p:spPr>
        <p:txBody>
          <a:bodyPr>
            <a:normAutofit fontScale="77500" lnSpcReduction="20000"/>
          </a:bodyPr>
          <a:lstStyle/>
          <a:p>
            <a:r>
              <a:rPr lang="en-US" sz="3200" dirty="0">
                <a:solidFill>
                  <a:schemeClr val="tx1"/>
                </a:solidFill>
              </a:rPr>
              <a:t>Class D Airspace</a:t>
            </a:r>
          </a:p>
          <a:p>
            <a:r>
              <a:rPr lang="en-US" sz="3200" dirty="0">
                <a:solidFill>
                  <a:schemeClr val="tx1"/>
                </a:solidFill>
              </a:rPr>
              <a:t>	</a:t>
            </a:r>
          </a:p>
          <a:p>
            <a:pPr marL="1200150" lvl="1" indent="-514350"/>
            <a:r>
              <a:rPr lang="en-US" sz="3100" dirty="0">
                <a:solidFill>
                  <a:schemeClr val="tx1"/>
                </a:solidFill>
              </a:rPr>
              <a:t>is designated for airports with operating ATC Control Towers</a:t>
            </a:r>
          </a:p>
          <a:p>
            <a:pPr lvl="1" indent="0">
              <a:buNone/>
            </a:pPr>
            <a:r>
              <a:rPr lang="en-US" sz="3100" dirty="0">
                <a:solidFill>
                  <a:schemeClr val="tx1"/>
                </a:solidFill>
              </a:rPr>
              <a:t> 	    (Airports Depicted by Blue Color).</a:t>
            </a:r>
          </a:p>
          <a:p>
            <a:pPr lvl="1" indent="0">
              <a:buNone/>
            </a:pPr>
            <a:endParaRPr lang="en-US" sz="3100" dirty="0">
              <a:solidFill>
                <a:schemeClr val="tx1"/>
              </a:solidFill>
            </a:endParaRPr>
          </a:p>
          <a:p>
            <a:pPr marL="1200150" lvl="1" indent="-514350"/>
            <a:r>
              <a:rPr lang="en-US" sz="3100" dirty="0">
                <a:solidFill>
                  <a:schemeClr val="tx1"/>
                </a:solidFill>
              </a:rPr>
              <a:t>lateral dimension are depicted by blue dashed circle, most class D’s are 4 nm radius around the airport with extensions to accommodate IFR approaches but each class D airspace is individually tailored.  (</a:t>
            </a:r>
            <a:r>
              <a:rPr lang="en-US" sz="3100" dirty="0" err="1">
                <a:solidFill>
                  <a:schemeClr val="tx1"/>
                </a:solidFill>
              </a:rPr>
              <a:t>eg</a:t>
            </a:r>
            <a:r>
              <a:rPr lang="en-US" sz="3100" dirty="0">
                <a:solidFill>
                  <a:schemeClr val="tx1"/>
                </a:solidFill>
              </a:rPr>
              <a:t> KSGR is 6 </a:t>
            </a:r>
            <a:r>
              <a:rPr lang="en-US" sz="3100">
                <a:solidFill>
                  <a:schemeClr val="tx1"/>
                </a:solidFill>
              </a:rPr>
              <a:t>nm </a:t>
            </a:r>
            <a:r>
              <a:rPr lang="en-US" sz="3100"/>
              <a:t>radius)</a:t>
            </a:r>
            <a:r>
              <a:rPr lang="en-US" sz="3100">
                <a:solidFill>
                  <a:schemeClr val="tx1"/>
                </a:solidFill>
              </a:rPr>
              <a:t>  </a:t>
            </a:r>
            <a:endParaRPr lang="en-US" sz="3100" dirty="0">
              <a:solidFill>
                <a:schemeClr val="tx1"/>
              </a:solidFill>
            </a:endParaRPr>
          </a:p>
          <a:p>
            <a:pPr marL="1200150" lvl="1" indent="-514350"/>
            <a:endParaRPr lang="en-US" sz="3100" dirty="0"/>
          </a:p>
          <a:p>
            <a:pPr marL="1200150" lvl="1" indent="-514350"/>
            <a:r>
              <a:rPr lang="en-US" sz="3100" b="0" dirty="0"/>
              <a:t>Vertically, The top of the airspace is standardized at 2500 ft </a:t>
            </a:r>
            <a:r>
              <a:rPr lang="en-US" sz="2300" b="0" dirty="0"/>
              <a:t>AGL</a:t>
            </a:r>
            <a:r>
              <a:rPr lang="en-US" sz="3100" b="0" dirty="0"/>
              <a:t>, </a:t>
            </a:r>
          </a:p>
          <a:p>
            <a:pPr lvl="1" indent="0">
              <a:buNone/>
            </a:pPr>
            <a:r>
              <a:rPr lang="en-US" sz="3100" dirty="0"/>
              <a:t>	    </a:t>
            </a:r>
            <a:r>
              <a:rPr lang="en-US" sz="3100" b="0" dirty="0"/>
              <a:t>depicted by [##] in </a:t>
            </a:r>
            <a:r>
              <a:rPr lang="en-US" sz="2300" b="0" dirty="0"/>
              <a:t>MSL</a:t>
            </a:r>
            <a:r>
              <a:rPr lang="en-US" sz="3100" b="0" dirty="0"/>
              <a:t>. </a:t>
            </a:r>
          </a:p>
          <a:p>
            <a:pPr lvl="1" indent="0">
              <a:buNone/>
            </a:pPr>
            <a:endParaRPr lang="en-US" sz="3100" dirty="0">
              <a:solidFill>
                <a:schemeClr val="tx1"/>
              </a:solidFill>
            </a:endParaRPr>
          </a:p>
          <a:p>
            <a:r>
              <a:rPr lang="en-US" sz="3200" dirty="0">
                <a:solidFill>
                  <a:schemeClr val="tx1"/>
                </a:solidFill>
              </a:rPr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26098461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Airspace – Class D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486894"/>
            <a:ext cx="11282901" cy="4802588"/>
          </a:xfrm>
        </p:spPr>
        <p:txBody>
          <a:bodyPr>
            <a:normAutofit lnSpcReduction="10000"/>
          </a:bodyPr>
          <a:lstStyle/>
          <a:p>
            <a:r>
              <a:rPr lang="en-US" sz="2400" u="sng" dirty="0">
                <a:solidFill>
                  <a:schemeClr val="accent1">
                    <a:lumMod val="75000"/>
                  </a:schemeClr>
                </a:solidFill>
              </a:rPr>
              <a:t>Operation Requirements for Class D Airspace:</a:t>
            </a:r>
          </a:p>
          <a:p>
            <a:endParaRPr lang="en-US" sz="2400" u="sng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	1)</a:t>
            </a:r>
            <a:r>
              <a:rPr lang="en-US" b="0" dirty="0"/>
              <a:t> </a:t>
            </a:r>
            <a:r>
              <a:rPr lang="en-US" sz="2000" dirty="0">
                <a:solidFill>
                  <a:schemeClr val="tx1"/>
                </a:solidFill>
              </a:rPr>
              <a:t>Pilot must establish Two Way Communications with the ATC Control Tower 	  	    prior to entering and maintain while in Class D.</a:t>
            </a:r>
          </a:p>
          <a:p>
            <a:r>
              <a:rPr lang="en-US" sz="2000" dirty="0">
                <a:solidFill>
                  <a:schemeClr val="tx1"/>
                </a:solidFill>
              </a:rPr>
              <a:t>		</a:t>
            </a:r>
            <a:r>
              <a:rPr lang="en-US" dirty="0">
                <a:solidFill>
                  <a:schemeClr val="tx1"/>
                </a:solidFill>
              </a:rPr>
              <a:t>(note: This is different from the required clearance for entering Class B)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	2) VFR Pilots must have a minimum ceiling and visibility of 1000 ft and 3 miles to 	    operate in Class D </a:t>
            </a:r>
            <a:r>
              <a:rPr lang="en-US" dirty="0">
                <a:solidFill>
                  <a:schemeClr val="tx1"/>
                </a:solidFill>
              </a:rPr>
              <a:t>(see FAR 91.155 (c),(d)) </a:t>
            </a:r>
          </a:p>
          <a:p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	3) A “Special VFR” Authorization may be requested by the Pilot if a minimum 1 	   	    mile Visibility and the ability to operate Clear of Clouds exists</a:t>
            </a:r>
          </a:p>
          <a:p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	4) Night Special VFR Authorizations only if </a:t>
            </a:r>
            <a:r>
              <a:rPr lang="en-US" sz="2000" i="1" dirty="0">
                <a:solidFill>
                  <a:schemeClr val="tx1"/>
                </a:solidFill>
              </a:rPr>
              <a:t>IFR rated &amp; Equipped </a:t>
            </a:r>
            <a:r>
              <a:rPr lang="en-US" sz="1400" i="1" dirty="0">
                <a:solidFill>
                  <a:schemeClr val="tx1"/>
                </a:solidFill>
              </a:rPr>
              <a:t>(91.157)</a:t>
            </a:r>
          </a:p>
        </p:txBody>
      </p:sp>
    </p:spTree>
    <p:extLst>
      <p:ext uri="{BB962C8B-B14F-4D97-AF65-F5344CB8AC3E}">
        <p14:creationId xmlns:p14="http://schemas.microsoft.com/office/powerpoint/2010/main" val="6465157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E2A09AE-DEDF-4DC1-A2FA-825815534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348" y="1214096"/>
            <a:ext cx="4807865" cy="465069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8D3036F-9C14-4892-8D65-48497FE603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4248" y="1214095"/>
            <a:ext cx="6119341" cy="4650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0170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Airspace – Class D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653872"/>
            <a:ext cx="11282901" cy="681975"/>
          </a:xfrm>
        </p:spPr>
        <p:txBody>
          <a:bodyPr>
            <a:normAutofit fontScale="92500" lnSpcReduction="10000"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	At some Class B &amp; D Airports </a:t>
            </a:r>
            <a:r>
              <a:rPr lang="en-US" dirty="0">
                <a:solidFill>
                  <a:schemeClr val="tx1"/>
                </a:solidFill>
              </a:rPr>
              <a:t>(usually the Primary Airport in Class B)</a:t>
            </a:r>
            <a:r>
              <a:rPr lang="en-US" sz="2000" dirty="0">
                <a:solidFill>
                  <a:schemeClr val="tx1"/>
                </a:solidFill>
              </a:rPr>
              <a:t>,</a:t>
            </a:r>
          </a:p>
          <a:p>
            <a:r>
              <a:rPr lang="en-US" sz="2000" dirty="0">
                <a:solidFill>
                  <a:schemeClr val="tx1"/>
                </a:solidFill>
              </a:rPr>
              <a:t>	 “Special VFR”	is prohibited. </a:t>
            </a:r>
            <a:endParaRPr lang="en-US" dirty="0">
              <a:solidFill>
                <a:schemeClr val="tx1"/>
              </a:solidFill>
            </a:endParaRPr>
          </a:p>
          <a:p>
            <a:pPr lvl="1" indent="0">
              <a:buNone/>
            </a:pPr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891DD8-C67B-4661-B409-BA54AD523F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867" y="2438291"/>
            <a:ext cx="5657850" cy="43148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4F0C895-768C-42FF-BEE3-E4DDC5F06E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5443" y="2448380"/>
            <a:ext cx="4087690" cy="4304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2647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Airspace – Class E (Echo)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54443" y="1510749"/>
            <a:ext cx="11545294" cy="5088834"/>
          </a:xfrm>
        </p:spPr>
        <p:txBody>
          <a:bodyPr>
            <a:normAutofit fontScale="47500" lnSpcReduction="20000"/>
          </a:bodyPr>
          <a:lstStyle/>
          <a:p>
            <a:r>
              <a:rPr lang="en-US" sz="5100" dirty="0">
                <a:solidFill>
                  <a:schemeClr val="tx1"/>
                </a:solidFill>
              </a:rPr>
              <a:t>Class E Airspace</a:t>
            </a:r>
          </a:p>
          <a:p>
            <a:r>
              <a:rPr lang="en-US" sz="3200" dirty="0">
                <a:solidFill>
                  <a:schemeClr val="tx1"/>
                </a:solidFill>
              </a:rPr>
              <a:t>	</a:t>
            </a:r>
          </a:p>
          <a:p>
            <a:pPr marL="1200150" lvl="1" indent="-514350"/>
            <a:r>
              <a:rPr lang="en-US" sz="5100" dirty="0">
                <a:solidFill>
                  <a:schemeClr val="tx1"/>
                </a:solidFill>
              </a:rPr>
              <a:t>is all controlled airspace not classified as A, B ,C, or D</a:t>
            </a:r>
          </a:p>
          <a:p>
            <a:pPr lvl="1" indent="0">
              <a:buNone/>
            </a:pPr>
            <a:endParaRPr lang="en-US" sz="5100" dirty="0">
              <a:solidFill>
                <a:schemeClr val="tx1"/>
              </a:solidFill>
            </a:endParaRPr>
          </a:p>
          <a:p>
            <a:pPr marL="1200150" lvl="1" indent="-514350"/>
            <a:r>
              <a:rPr lang="en-US" sz="5100" dirty="0"/>
              <a:t>defines airspace for the safe control and separation of aircraft during IFR operations</a:t>
            </a:r>
            <a:endParaRPr lang="en-US" sz="5100" dirty="0">
              <a:solidFill>
                <a:schemeClr val="tx1"/>
              </a:solidFill>
            </a:endParaRPr>
          </a:p>
          <a:p>
            <a:pPr marL="1200150" lvl="1" indent="-514350"/>
            <a:endParaRPr lang="en-US" sz="5100" dirty="0"/>
          </a:p>
          <a:p>
            <a:pPr marL="1200150" lvl="1" indent="-514350"/>
            <a:r>
              <a:rPr lang="en-US" sz="5100" dirty="0"/>
              <a:t>Charts depict all Class E airspace with bases below 14,500’.  If not charted, then Class E starts at 14,500’ and goes up to but not including 18,000’</a:t>
            </a:r>
            <a:r>
              <a:rPr lang="en-US" sz="5100" b="0" dirty="0"/>
              <a:t> </a:t>
            </a:r>
          </a:p>
          <a:p>
            <a:pPr marL="1200150" lvl="1" indent="-514350"/>
            <a:endParaRPr lang="en-US" sz="5100" dirty="0"/>
          </a:p>
          <a:p>
            <a:pPr marL="1200150" lvl="1" indent="-514350"/>
            <a:r>
              <a:rPr lang="en-US" sz="5100" dirty="0"/>
              <a:t>VFR Pilots must comply with minimum visibility &amp; cloud clearance requirements</a:t>
            </a:r>
          </a:p>
          <a:p>
            <a:pPr lvl="1" indent="0">
              <a:buNone/>
            </a:pPr>
            <a:r>
              <a:rPr lang="en-US" sz="5100" dirty="0"/>
              <a:t>	     to operate in Class E (see FAR 91.155) </a:t>
            </a:r>
          </a:p>
          <a:p>
            <a:pPr lvl="1" indent="0">
              <a:buNone/>
            </a:pPr>
            <a:r>
              <a:rPr lang="en-US" sz="3200" b="0" dirty="0"/>
              <a:t>			</a:t>
            </a:r>
            <a:r>
              <a:rPr lang="en-US" sz="3400" b="0" dirty="0"/>
              <a:t>Memory Aid:  	3-152 rule (below 10,000’ MSL)</a:t>
            </a:r>
          </a:p>
          <a:p>
            <a:pPr lvl="1" indent="0">
              <a:buNone/>
            </a:pPr>
            <a:r>
              <a:rPr lang="en-US" sz="3400" b="0" dirty="0"/>
              <a:t>					5-F111 rule (above 10,000’ MSL)</a:t>
            </a:r>
          </a:p>
          <a:p>
            <a:pPr lvl="1" indent="0">
              <a:buNone/>
            </a:pPr>
            <a:endParaRPr lang="en-US" sz="3100" dirty="0">
              <a:solidFill>
                <a:schemeClr val="tx1"/>
              </a:solidFill>
            </a:endParaRPr>
          </a:p>
          <a:p>
            <a:pPr lvl="1" indent="0">
              <a:buNone/>
            </a:pPr>
            <a:r>
              <a:rPr lang="en-US" sz="3600" dirty="0">
                <a:solidFill>
                  <a:schemeClr val="tx1"/>
                </a:solidFill>
              </a:rPr>
              <a:t>	</a:t>
            </a:r>
          </a:p>
          <a:p>
            <a:r>
              <a:rPr lang="en-US" sz="3200" dirty="0">
                <a:solidFill>
                  <a:schemeClr val="tx1"/>
                </a:solidFill>
              </a:rPr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7293212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Airspace – Class E 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653872"/>
            <a:ext cx="11282901" cy="4635610"/>
          </a:xfrm>
        </p:spPr>
        <p:txBody>
          <a:bodyPr>
            <a:normAutofit lnSpcReduction="10000"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Class E Airspace  - Transition Areas</a:t>
            </a:r>
          </a:p>
          <a:p>
            <a:r>
              <a:rPr lang="en-US" sz="3200" dirty="0">
                <a:solidFill>
                  <a:schemeClr val="tx1"/>
                </a:solidFill>
              </a:rPr>
              <a:t>	</a:t>
            </a:r>
          </a:p>
          <a:p>
            <a:pPr marL="1200150" lvl="1" indent="-514350"/>
            <a:r>
              <a:rPr lang="en-US" sz="2800" dirty="0"/>
              <a:t>Transition areas are depicted by magenta shaded areas</a:t>
            </a:r>
          </a:p>
          <a:p>
            <a:pPr marL="1200150" lvl="1" indent="-514350"/>
            <a:endParaRPr lang="en-US" sz="2800" dirty="0">
              <a:solidFill>
                <a:schemeClr val="tx1"/>
              </a:solidFill>
            </a:endParaRPr>
          </a:p>
          <a:p>
            <a:pPr marL="1200150" lvl="1" indent="-514350"/>
            <a:r>
              <a:rPr lang="en-US" sz="2800" dirty="0">
                <a:solidFill>
                  <a:schemeClr val="tx1"/>
                </a:solidFill>
              </a:rPr>
              <a:t>Inside the magenta shading, the Class E base is 700’ </a:t>
            </a:r>
            <a:r>
              <a:rPr lang="en-US" sz="1900" dirty="0">
                <a:solidFill>
                  <a:schemeClr val="tx1"/>
                </a:solidFill>
              </a:rPr>
              <a:t>AGL</a:t>
            </a:r>
          </a:p>
          <a:p>
            <a:pPr marL="1200150" lvl="1" indent="-514350"/>
            <a:endParaRPr lang="en-US" sz="2800" dirty="0"/>
          </a:p>
          <a:p>
            <a:pPr marL="1200150" lvl="1" indent="-514350"/>
            <a:r>
              <a:rPr lang="en-US" sz="2800" dirty="0"/>
              <a:t>Outside the magenta shading, the Class E base is 1,200’ </a:t>
            </a:r>
            <a:r>
              <a:rPr lang="en-US" sz="2000" dirty="0"/>
              <a:t>AGL</a:t>
            </a:r>
          </a:p>
          <a:p>
            <a:pPr lvl="3" indent="0">
              <a:buNone/>
            </a:pPr>
            <a:r>
              <a:rPr lang="en-US" dirty="0"/>
              <a:t>(AIM 3-2-6: 3a)</a:t>
            </a:r>
          </a:p>
          <a:p>
            <a:pPr lvl="1" indent="0">
              <a:buNone/>
            </a:pPr>
            <a:r>
              <a:rPr lang="en-US" sz="3600" dirty="0">
                <a:solidFill>
                  <a:schemeClr val="tx1"/>
                </a:solidFill>
              </a:rPr>
              <a:t>	</a:t>
            </a:r>
          </a:p>
          <a:p>
            <a:r>
              <a:rPr lang="en-US" sz="3200" dirty="0">
                <a:solidFill>
                  <a:schemeClr val="tx1"/>
                </a:solidFill>
              </a:rPr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41122983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C74F97-7782-4DE7-8FE8-E43D4380B3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212" y="342900"/>
            <a:ext cx="9553575" cy="617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7791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Airspace – Class E 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653872"/>
            <a:ext cx="11282901" cy="4635610"/>
          </a:xfrm>
        </p:spPr>
        <p:txBody>
          <a:bodyPr>
            <a:normAutofit fontScale="92500" lnSpcReduction="20000"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Class E Airspace  - Surface Area</a:t>
            </a:r>
          </a:p>
          <a:p>
            <a:r>
              <a:rPr lang="en-US" sz="3200" dirty="0">
                <a:solidFill>
                  <a:schemeClr val="tx1"/>
                </a:solidFill>
              </a:rPr>
              <a:t>	</a:t>
            </a:r>
          </a:p>
          <a:p>
            <a:pPr marL="1200150" lvl="1" indent="-514350"/>
            <a:r>
              <a:rPr lang="en-US" sz="2800" dirty="0"/>
              <a:t>Some airports may have a Class E Surface area designated for the airport where a control tower does not exist or the control tower is not in operation</a:t>
            </a:r>
          </a:p>
          <a:p>
            <a:pPr marL="1200150" lvl="1" indent="-514350"/>
            <a:endParaRPr lang="en-US" sz="2800" dirty="0"/>
          </a:p>
          <a:p>
            <a:pPr marL="1200150" lvl="1" indent="-514350"/>
            <a:r>
              <a:rPr lang="en-US" sz="2800" dirty="0"/>
              <a:t>depicted by magenta dashed lines surrounding the airport</a:t>
            </a:r>
          </a:p>
          <a:p>
            <a:pPr marL="1200150" lvl="1" indent="-514350"/>
            <a:endParaRPr lang="en-US" sz="2800" dirty="0">
              <a:solidFill>
                <a:schemeClr val="tx1"/>
              </a:solidFill>
            </a:endParaRPr>
          </a:p>
          <a:p>
            <a:pPr marL="1200150" lvl="1" indent="-514350"/>
            <a:r>
              <a:rPr lang="en-US" sz="2800" dirty="0"/>
              <a:t>Dimension is standardized as 4 nm radius with extensions for IFR approaches</a:t>
            </a:r>
            <a:endParaRPr lang="en-US" sz="1900" dirty="0">
              <a:solidFill>
                <a:schemeClr val="tx1"/>
              </a:solidFill>
            </a:endParaRPr>
          </a:p>
          <a:p>
            <a:pPr marL="1200150" lvl="1" indent="-514350"/>
            <a:endParaRPr lang="en-US" sz="2800" dirty="0"/>
          </a:p>
          <a:p>
            <a:pPr lvl="1" indent="0">
              <a:buNone/>
            </a:pPr>
            <a:r>
              <a:rPr lang="en-US" sz="3600" dirty="0">
                <a:solidFill>
                  <a:schemeClr val="tx1"/>
                </a:solidFill>
              </a:rPr>
              <a:t>	</a:t>
            </a:r>
          </a:p>
          <a:p>
            <a:r>
              <a:rPr lang="en-US" sz="3200" dirty="0">
                <a:solidFill>
                  <a:schemeClr val="tx1"/>
                </a:solidFill>
              </a:rPr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24839111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Airspace – Class E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486894"/>
            <a:ext cx="11282901" cy="4802588"/>
          </a:xfrm>
        </p:spPr>
        <p:txBody>
          <a:bodyPr>
            <a:normAutofit/>
          </a:bodyPr>
          <a:lstStyle/>
          <a:p>
            <a:r>
              <a:rPr lang="en-US" sz="2400" u="sng" dirty="0">
                <a:solidFill>
                  <a:schemeClr val="accent1">
                    <a:lumMod val="75000"/>
                  </a:schemeClr>
                </a:solidFill>
              </a:rPr>
              <a:t>Operation Requirements for Class E Airspace – Surface Area</a:t>
            </a:r>
          </a:p>
          <a:p>
            <a:endParaRPr lang="en-US" sz="2400" u="sng" dirty="0">
              <a:solidFill>
                <a:schemeClr val="accent1">
                  <a:lumMod val="75000"/>
                </a:schemeClr>
              </a:solidFill>
            </a:endParaRPr>
          </a:p>
          <a:p>
            <a:pPr marL="1028700" lvl="1" indent="-342900"/>
            <a:r>
              <a:rPr lang="en-US" dirty="0">
                <a:solidFill>
                  <a:schemeClr val="tx1"/>
                </a:solidFill>
              </a:rPr>
              <a:t>VFR Pilots must have a minimum ceiling and visibility of 1000 ft and 3 miles to operate in Class E surface areas (see FAR 91.155 (c),(d)) </a:t>
            </a:r>
          </a:p>
          <a:p>
            <a:pPr marL="1028700" lvl="1" indent="-342900"/>
            <a:endParaRPr lang="en-US" dirty="0">
              <a:solidFill>
                <a:schemeClr val="tx1"/>
              </a:solidFill>
            </a:endParaRPr>
          </a:p>
          <a:p>
            <a:pPr marL="1028700" lvl="1" indent="-342900"/>
            <a:r>
              <a:rPr lang="en-US" dirty="0">
                <a:solidFill>
                  <a:schemeClr val="tx1"/>
                </a:solidFill>
              </a:rPr>
              <a:t>A “Special VFR” Authorization may be requested by the Pilot if a minimum 1 mile Visibility and the ability to operate Clear of Clouds exists  (FAR 91.157)</a:t>
            </a:r>
          </a:p>
          <a:p>
            <a:pPr marL="1028700" lvl="1" indent="-342900"/>
            <a:endParaRPr lang="en-US" dirty="0">
              <a:solidFill>
                <a:schemeClr val="tx1"/>
              </a:solidFill>
            </a:endParaRPr>
          </a:p>
          <a:p>
            <a:pPr marL="1028700" lvl="1" indent="-342900"/>
            <a:r>
              <a:rPr lang="en-US" dirty="0">
                <a:solidFill>
                  <a:schemeClr val="tx1"/>
                </a:solidFill>
              </a:rPr>
              <a:t>Night Special VFR Authorizations only if </a:t>
            </a:r>
            <a:r>
              <a:rPr lang="en-US" i="1" dirty="0">
                <a:solidFill>
                  <a:schemeClr val="tx1"/>
                </a:solidFill>
              </a:rPr>
              <a:t>IFR rated &amp; equipped. </a:t>
            </a:r>
          </a:p>
        </p:txBody>
      </p:sp>
    </p:spTree>
    <p:extLst>
      <p:ext uri="{BB962C8B-B14F-4D97-AF65-F5344CB8AC3E}">
        <p14:creationId xmlns:p14="http://schemas.microsoft.com/office/powerpoint/2010/main" val="367743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3F37F91-64A2-4BD7-9F75-A8303A1469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74" y="901148"/>
            <a:ext cx="5515142" cy="463494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0E007A2-AAA9-405A-9157-581C795817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1663" y="907110"/>
            <a:ext cx="5879148" cy="4628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0895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Airspace – Class E 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653872"/>
            <a:ext cx="11282901" cy="4635610"/>
          </a:xfrm>
        </p:spPr>
        <p:txBody>
          <a:bodyPr>
            <a:normAutofit fontScale="85000" lnSpcReduction="20000"/>
          </a:bodyPr>
          <a:lstStyle/>
          <a:p>
            <a:r>
              <a:rPr lang="en-US" sz="3200" dirty="0">
                <a:solidFill>
                  <a:schemeClr val="tx1"/>
                </a:solidFill>
              </a:rPr>
              <a:t>Class E Airspace  - Victor Airways</a:t>
            </a:r>
          </a:p>
          <a:p>
            <a:r>
              <a:rPr lang="en-US" sz="3200" dirty="0">
                <a:solidFill>
                  <a:schemeClr val="tx1"/>
                </a:solidFill>
              </a:rPr>
              <a:t>	</a:t>
            </a:r>
          </a:p>
          <a:p>
            <a:pPr marL="1200150" lvl="1" indent="-514350"/>
            <a:r>
              <a:rPr lang="en-US" sz="3100" dirty="0">
                <a:solidFill>
                  <a:schemeClr val="tx1"/>
                </a:solidFill>
              </a:rPr>
              <a:t>Interstate highways of the sky</a:t>
            </a:r>
          </a:p>
          <a:p>
            <a:pPr lvl="1" indent="0">
              <a:buNone/>
            </a:pPr>
            <a:endParaRPr lang="en-US" sz="3100" dirty="0">
              <a:solidFill>
                <a:schemeClr val="tx1"/>
              </a:solidFill>
            </a:endParaRPr>
          </a:p>
          <a:p>
            <a:pPr marL="1200150" lvl="1" indent="-514350"/>
            <a:r>
              <a:rPr lang="en-US" sz="3100" dirty="0"/>
              <a:t>Depicted by sold blue lines connecting VOR to VOR.  Airways are designated by “V###”</a:t>
            </a:r>
            <a:endParaRPr lang="en-US" sz="3100" dirty="0">
              <a:solidFill>
                <a:schemeClr val="tx1"/>
              </a:solidFill>
            </a:endParaRPr>
          </a:p>
          <a:p>
            <a:pPr marL="1200150" lvl="1" indent="-514350"/>
            <a:endParaRPr lang="en-US" sz="3100" dirty="0"/>
          </a:p>
          <a:p>
            <a:pPr marL="1200150" lvl="1" indent="-514350"/>
            <a:r>
              <a:rPr lang="en-US" sz="3100" dirty="0"/>
              <a:t>Lateral dimensions are 4 nm each side of airway centerline.  (8 nm wide)</a:t>
            </a:r>
          </a:p>
          <a:p>
            <a:pPr marL="1200150" lvl="1" indent="-514350"/>
            <a:endParaRPr lang="en-US" sz="3100" dirty="0"/>
          </a:p>
          <a:p>
            <a:pPr marL="1200150" lvl="1" indent="-514350"/>
            <a:r>
              <a:rPr lang="en-US" sz="3100" dirty="0"/>
              <a:t>Vertical dimensions are 1,200’ AGL up to but not including 18,000’</a:t>
            </a:r>
            <a:endParaRPr lang="en-US" sz="3100" dirty="0">
              <a:solidFill>
                <a:schemeClr val="tx1"/>
              </a:solidFill>
            </a:endParaRPr>
          </a:p>
          <a:p>
            <a:pPr lvl="1" indent="0">
              <a:buNone/>
            </a:pPr>
            <a:r>
              <a:rPr lang="en-US" sz="3600" dirty="0">
                <a:solidFill>
                  <a:schemeClr val="tx1"/>
                </a:solidFill>
              </a:rPr>
              <a:t>	</a:t>
            </a:r>
          </a:p>
          <a:p>
            <a:r>
              <a:rPr lang="en-US" sz="3200" dirty="0">
                <a:solidFill>
                  <a:schemeClr val="tx1"/>
                </a:solidFill>
              </a:rPr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6061849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Airspace – Class E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486894"/>
            <a:ext cx="11282901" cy="4802588"/>
          </a:xfrm>
        </p:spPr>
        <p:txBody>
          <a:bodyPr>
            <a:normAutofit/>
          </a:bodyPr>
          <a:lstStyle/>
          <a:p>
            <a:r>
              <a:rPr lang="en-US" sz="2400" u="sng" dirty="0">
                <a:solidFill>
                  <a:schemeClr val="accent1">
                    <a:lumMod val="75000"/>
                  </a:schemeClr>
                </a:solidFill>
              </a:rPr>
              <a:t>Operation Requirements for Class E Airspace  - VICTOR AIRWAYS:</a:t>
            </a:r>
          </a:p>
          <a:p>
            <a:endParaRPr lang="en-US" sz="2400" u="sng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	1)</a:t>
            </a:r>
            <a:r>
              <a:rPr lang="en-US" sz="2000" b="0" dirty="0"/>
              <a:t> </a:t>
            </a:r>
            <a:r>
              <a:rPr lang="en-US" sz="2000" dirty="0">
                <a:solidFill>
                  <a:schemeClr val="tx1"/>
                </a:solidFill>
              </a:rPr>
              <a:t>Comply with Part 91 Visibility and Cloud Clearance Requirements.</a:t>
            </a:r>
          </a:p>
          <a:p>
            <a:r>
              <a:rPr lang="en-US" sz="2000" dirty="0">
                <a:solidFill>
                  <a:schemeClr val="tx1"/>
                </a:solidFill>
              </a:rPr>
              <a:t>		(Memory Aid: </a:t>
            </a:r>
            <a:r>
              <a:rPr lang="en-US" sz="2000" i="1" dirty="0">
                <a:solidFill>
                  <a:schemeClr val="tx1"/>
                </a:solidFill>
              </a:rPr>
              <a:t>3-152 </a:t>
            </a:r>
            <a:r>
              <a:rPr lang="en-US" sz="2000" dirty="0">
                <a:solidFill>
                  <a:schemeClr val="tx1"/>
                </a:solidFill>
              </a:rPr>
              <a:t>Rule and/or </a:t>
            </a:r>
            <a:r>
              <a:rPr lang="en-US" sz="2000" i="1" dirty="0">
                <a:solidFill>
                  <a:schemeClr val="tx1"/>
                </a:solidFill>
              </a:rPr>
              <a:t>5-F111 </a:t>
            </a:r>
            <a:r>
              <a:rPr lang="en-US" sz="2000" dirty="0">
                <a:solidFill>
                  <a:schemeClr val="tx1"/>
                </a:solidFill>
              </a:rPr>
              <a:t>Rule)</a:t>
            </a:r>
          </a:p>
          <a:p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	2) Comply with the Cardinal Rule for Cruise Altitudes</a:t>
            </a:r>
          </a:p>
          <a:p>
            <a:r>
              <a:rPr lang="en-US" sz="2000" dirty="0">
                <a:solidFill>
                  <a:schemeClr val="tx1"/>
                </a:solidFill>
              </a:rPr>
              <a:t>		(Mag Course 0-179: Odd Thousands + 500ft,(3500, 5500, 7500, …)</a:t>
            </a:r>
          </a:p>
          <a:p>
            <a:r>
              <a:rPr lang="en-US" sz="2000" dirty="0">
                <a:solidFill>
                  <a:schemeClr val="tx1"/>
                </a:solidFill>
              </a:rPr>
              <a:t>		(Mag Course 180-359: Even Thousands + 500 ft. (4500, 6500, 8500, …)</a:t>
            </a:r>
          </a:p>
          <a:p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	</a:t>
            </a:r>
            <a:endParaRPr lang="en-US" sz="2000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36945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C74F97-7782-4DE7-8FE8-E43D4380B3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212" y="342900"/>
            <a:ext cx="9553575" cy="617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5701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Airspace – Class G (Golf) Uncontrolled Airspace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486894"/>
            <a:ext cx="11282901" cy="4802588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CLASS G AIRSPACE</a:t>
            </a:r>
          </a:p>
          <a:p>
            <a:endParaRPr lang="en-US" sz="2000" dirty="0">
              <a:solidFill>
                <a:schemeClr val="tx1"/>
              </a:solidFill>
            </a:endParaRPr>
          </a:p>
          <a:p>
            <a:pPr marL="1485900" lvl="2" indent="-342900"/>
            <a:r>
              <a:rPr lang="en-US" sz="2400" dirty="0">
                <a:solidFill>
                  <a:schemeClr val="tx1"/>
                </a:solidFill>
              </a:rPr>
              <a:t>Exists over most of the USA, from the surface to 700’ AGL, or surface to 1,200’ AGL.</a:t>
            </a:r>
          </a:p>
          <a:p>
            <a:pPr lvl="2" indent="0">
              <a:buNone/>
            </a:pPr>
            <a:endParaRPr lang="en-US" sz="2400" dirty="0">
              <a:solidFill>
                <a:schemeClr val="tx1"/>
              </a:solidFill>
            </a:endParaRPr>
          </a:p>
          <a:p>
            <a:pPr marL="1485900" lvl="2" indent="-342900"/>
            <a:r>
              <a:rPr lang="en-US" sz="2400" dirty="0">
                <a:solidFill>
                  <a:schemeClr val="tx1"/>
                </a:solidFill>
              </a:rPr>
              <a:t>Class G exists below Class E.</a:t>
            </a:r>
            <a:endParaRPr lang="en-US" sz="2400" dirty="0"/>
          </a:p>
          <a:p>
            <a:pPr lvl="2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	</a:t>
            </a:r>
          </a:p>
          <a:p>
            <a:pPr marL="1485900" lvl="2" indent="-342900"/>
            <a:r>
              <a:rPr lang="en-US" sz="2400" dirty="0">
                <a:solidFill>
                  <a:schemeClr val="tx1"/>
                </a:solidFill>
              </a:rPr>
              <a:t>This low level airspace allows VFR pilots to operate with minimum weather conditions and remain VFR</a:t>
            </a:r>
          </a:p>
        </p:txBody>
      </p:sp>
    </p:spTree>
    <p:extLst>
      <p:ext uri="{BB962C8B-B14F-4D97-AF65-F5344CB8AC3E}">
        <p14:creationId xmlns:p14="http://schemas.microsoft.com/office/powerpoint/2010/main" val="28321684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Airspace – Class G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486894"/>
            <a:ext cx="11282901" cy="4802588"/>
          </a:xfrm>
        </p:spPr>
        <p:txBody>
          <a:bodyPr>
            <a:normAutofit/>
          </a:bodyPr>
          <a:lstStyle/>
          <a:p>
            <a:r>
              <a:rPr lang="en-US" sz="2400" u="sng" dirty="0">
                <a:solidFill>
                  <a:schemeClr val="accent1">
                    <a:lumMod val="75000"/>
                  </a:schemeClr>
                </a:solidFill>
              </a:rPr>
              <a:t>Operation Requirements for Class G Airspace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</a:endParaRPr>
          </a:p>
          <a:p>
            <a:pPr marL="1485900" lvl="2" indent="-342900"/>
            <a:r>
              <a:rPr lang="en-US" sz="2400" dirty="0"/>
              <a:t>VFR Pilots must comply with Part 91 visibility and cloud clearance requirements</a:t>
            </a:r>
          </a:p>
          <a:p>
            <a:pPr marL="1943100" lvl="3" indent="-342900"/>
            <a:r>
              <a:rPr lang="en-US" dirty="0">
                <a:solidFill>
                  <a:schemeClr val="tx1"/>
                </a:solidFill>
              </a:rPr>
              <a:t>Daytime:  1 SM visibility and operate clear of cloud</a:t>
            </a:r>
          </a:p>
          <a:p>
            <a:pPr marL="1943100" lvl="3" indent="-342900"/>
            <a:r>
              <a:rPr lang="en-US" dirty="0"/>
              <a:t>Night time: 3 SM vis, 500’ below/ 1000’ above/ 2000’ </a:t>
            </a:r>
            <a:r>
              <a:rPr lang="en-US" dirty="0" err="1"/>
              <a:t>hz</a:t>
            </a:r>
            <a:r>
              <a:rPr lang="en-US" dirty="0"/>
              <a:t> clearance from clouds (152 rule)</a:t>
            </a:r>
            <a:endParaRPr lang="en-US" dirty="0">
              <a:solidFill>
                <a:schemeClr val="tx1"/>
              </a:solidFill>
            </a:endParaRPr>
          </a:p>
          <a:p>
            <a:pPr lvl="2" indent="0">
              <a:buNone/>
            </a:pPr>
            <a:endParaRPr lang="en-US" sz="2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503B86-6992-4BE7-8BEE-D2C2B84A2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965" y="3958432"/>
            <a:ext cx="7569351" cy="2704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6769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Special Use Airspace - Prohibited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486894"/>
            <a:ext cx="11282901" cy="4802588"/>
          </a:xfrm>
        </p:spPr>
        <p:txBody>
          <a:bodyPr>
            <a:normAutofit lnSpcReduction="10000"/>
          </a:bodyPr>
          <a:lstStyle/>
          <a:p>
            <a:r>
              <a:rPr lang="en-US" sz="2400" u="sng" dirty="0">
                <a:solidFill>
                  <a:schemeClr val="accent1">
                    <a:lumMod val="75000"/>
                  </a:schemeClr>
                </a:solidFill>
              </a:rPr>
              <a:t>Prohibited Areas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Depicted by area bordered by tight blue hatching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Identified by label:  “Prohibited P- ####”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Placed over areas of sensitive National Security, </a:t>
            </a:r>
            <a:r>
              <a:rPr lang="en-US" sz="2400" dirty="0" err="1"/>
              <a:t>eg</a:t>
            </a:r>
            <a:r>
              <a:rPr lang="en-US" sz="2400" dirty="0"/>
              <a:t>: White House, Camp David</a:t>
            </a:r>
            <a:endParaRPr lang="en-US" sz="1800" dirty="0"/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Detailed information provided on the Sectional Chart side panel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OPERTIONAL REQUIREMENTS:  </a:t>
            </a:r>
          </a:p>
          <a:p>
            <a:pPr marL="1943100" lvl="3" indent="-342900">
              <a:lnSpc>
                <a:spcPct val="150000"/>
              </a:lnSpc>
            </a:pPr>
            <a:r>
              <a:rPr lang="en-US" sz="2200" i="1" u="sng" dirty="0"/>
              <a:t>Authorization</a:t>
            </a:r>
            <a:r>
              <a:rPr lang="en-US" sz="2200" dirty="0"/>
              <a:t> from the ATC Controlling Agency is required – unlikely</a:t>
            </a:r>
          </a:p>
          <a:p>
            <a:pPr marL="1943100" lvl="3" indent="-342900">
              <a:lnSpc>
                <a:spcPct val="150000"/>
              </a:lnSpc>
            </a:pPr>
            <a:r>
              <a:rPr lang="en-US" sz="2200" dirty="0"/>
              <a:t>Avoid Prohibited Areas at all times, monitor 121.5 for violation warnings &amp; intercept by military</a:t>
            </a:r>
          </a:p>
          <a:p>
            <a:pPr marL="1943100" lvl="3" indent="-342900">
              <a:lnSpc>
                <a:spcPct val="150000"/>
              </a:lnSpc>
            </a:pPr>
            <a:endParaRPr lang="en-US" sz="2200" dirty="0"/>
          </a:p>
          <a:p>
            <a:pPr lvl="2" indent="0">
              <a:buNone/>
            </a:pP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46118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Special Use Airspace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486893"/>
            <a:ext cx="11282901" cy="5152445"/>
          </a:xfrm>
        </p:spPr>
        <p:txBody>
          <a:bodyPr>
            <a:normAutofit/>
          </a:bodyPr>
          <a:lstStyle/>
          <a:p>
            <a:r>
              <a:rPr lang="en-US" sz="2400" u="sng" dirty="0">
                <a:solidFill>
                  <a:schemeClr val="accent1">
                    <a:lumMod val="75000"/>
                  </a:schemeClr>
                </a:solidFill>
              </a:rPr>
              <a:t>Prohibited Areas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</a:endParaRPr>
          </a:p>
          <a:p>
            <a:pPr lvl="2" indent="0">
              <a:buNone/>
            </a:pP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16B567-F45A-429B-9DBA-00154E8B8D05}"/>
              </a:ext>
            </a:extLst>
          </p:cNvPr>
          <p:cNvSpPr txBox="1"/>
          <p:nvPr/>
        </p:nvSpPr>
        <p:spPr>
          <a:xfrm>
            <a:off x="7673009" y="5605670"/>
            <a:ext cx="33788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( from Sectional Chart side panel 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2C2949-208A-4AA4-8D81-F8D82FD102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380" y="2028871"/>
            <a:ext cx="5483750" cy="471939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5DA717C-6088-463D-A4AF-5D2DCD6CFC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4538" y="2180465"/>
            <a:ext cx="5617743" cy="287755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9E90215-47F5-49A6-A57A-F57A4EA561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4538" y="5052018"/>
            <a:ext cx="5617743" cy="488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3347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Special Use Airspace - Restricted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486894"/>
            <a:ext cx="11282901" cy="4802588"/>
          </a:xfrm>
        </p:spPr>
        <p:txBody>
          <a:bodyPr>
            <a:normAutofit/>
          </a:bodyPr>
          <a:lstStyle/>
          <a:p>
            <a:r>
              <a:rPr lang="en-US" sz="2400" u="sng" dirty="0">
                <a:solidFill>
                  <a:schemeClr val="accent1">
                    <a:lumMod val="75000"/>
                  </a:schemeClr>
                </a:solidFill>
              </a:rPr>
              <a:t>Restricted Areas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</a:endParaRP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Depicted by area bordered by blue hatching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Identified by label:  “Restricted R- ####”</a:t>
            </a:r>
            <a:endParaRPr lang="en-US" sz="1800" dirty="0"/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Detailed information provided on the Sectional Chart side panel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OPERTIONAL REQUIREMENTS:  </a:t>
            </a:r>
          </a:p>
          <a:p>
            <a:pPr marL="1943100" lvl="3" indent="-342900">
              <a:lnSpc>
                <a:spcPct val="150000"/>
              </a:lnSpc>
            </a:pPr>
            <a:r>
              <a:rPr lang="en-US" sz="2200" i="1" u="sng" dirty="0"/>
              <a:t>Authorization</a:t>
            </a:r>
            <a:r>
              <a:rPr lang="en-US" sz="2200" dirty="0"/>
              <a:t> from the ATC Controlling Agency is required</a:t>
            </a:r>
          </a:p>
          <a:p>
            <a:pPr lvl="2" indent="0">
              <a:buNone/>
            </a:pP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03021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Special Use Airspace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486894"/>
            <a:ext cx="11282901" cy="4802588"/>
          </a:xfrm>
        </p:spPr>
        <p:txBody>
          <a:bodyPr>
            <a:normAutofit/>
          </a:bodyPr>
          <a:lstStyle/>
          <a:p>
            <a:r>
              <a:rPr lang="en-US" sz="2400" u="sng" dirty="0">
                <a:solidFill>
                  <a:schemeClr val="accent1">
                    <a:lumMod val="75000"/>
                  </a:schemeClr>
                </a:solidFill>
              </a:rPr>
              <a:t>Restricted Areas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</a:endParaRPr>
          </a:p>
          <a:p>
            <a:pPr lvl="2" indent="0">
              <a:buNone/>
            </a:pPr>
            <a:endParaRPr lang="en-US" sz="2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18CA30-9AFE-4375-905B-E995FC0040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68" y="1957310"/>
            <a:ext cx="4708474" cy="10520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E59BE32-A95F-424C-A80A-7E123FD28D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5674" y="3154561"/>
            <a:ext cx="5314062" cy="283867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B16B567-F45A-429B-9DBA-00154E8B8D05}"/>
              </a:ext>
            </a:extLst>
          </p:cNvPr>
          <p:cNvSpPr txBox="1"/>
          <p:nvPr/>
        </p:nvSpPr>
        <p:spPr>
          <a:xfrm>
            <a:off x="7688911" y="6138407"/>
            <a:ext cx="33629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( from Sectional Chart side panel 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EA83521-5AD5-4D63-94D3-7A799361C1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878" y="2552369"/>
            <a:ext cx="5464104" cy="3077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8886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Special Use Airspace - Warning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486893"/>
            <a:ext cx="11282901" cy="5271715"/>
          </a:xfrm>
        </p:spPr>
        <p:txBody>
          <a:bodyPr>
            <a:normAutofit/>
          </a:bodyPr>
          <a:lstStyle/>
          <a:p>
            <a:r>
              <a:rPr lang="en-US" sz="2400" u="sng" dirty="0">
                <a:solidFill>
                  <a:schemeClr val="accent1">
                    <a:lumMod val="75000"/>
                  </a:schemeClr>
                </a:solidFill>
              </a:rPr>
              <a:t>WARNING Areas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Depicted by area bordered by blue hatching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Identified by label:  “Warning W- ####”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Areas of extreme military activity, most are established beyond 3 mile limit off of US shorelines, therefore not considered US Airspace </a:t>
            </a:r>
            <a:endParaRPr lang="en-US" sz="1800" dirty="0"/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Detailed information provided on the Sectional Chart side panel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OPERATIONAL REQUIREMENTS:  </a:t>
            </a:r>
          </a:p>
          <a:p>
            <a:pPr marL="1943100" lvl="3" indent="-342900">
              <a:lnSpc>
                <a:spcPct val="150000"/>
              </a:lnSpc>
            </a:pPr>
            <a:r>
              <a:rPr lang="en-US" sz="2200" dirty="0"/>
              <a:t>Only requirement is see and avoid – exercise vigilance</a:t>
            </a:r>
          </a:p>
          <a:p>
            <a:pPr marL="1943100" lvl="3" indent="-342900">
              <a:lnSpc>
                <a:spcPct val="150000"/>
              </a:lnSpc>
            </a:pPr>
            <a:r>
              <a:rPr lang="en-US" sz="2200" dirty="0"/>
              <a:t>If flight through is required, recommend VFR flight following from ATC</a:t>
            </a:r>
          </a:p>
          <a:p>
            <a:pPr lvl="2" indent="0">
              <a:buNone/>
            </a:pP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71026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Special Use Airspace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486894"/>
            <a:ext cx="11282901" cy="4802588"/>
          </a:xfrm>
        </p:spPr>
        <p:txBody>
          <a:bodyPr>
            <a:normAutofit/>
          </a:bodyPr>
          <a:lstStyle/>
          <a:p>
            <a:r>
              <a:rPr lang="en-US" sz="2400" u="sng" dirty="0">
                <a:solidFill>
                  <a:schemeClr val="accent1">
                    <a:lumMod val="75000"/>
                  </a:schemeClr>
                </a:solidFill>
              </a:rPr>
              <a:t>Warning Areas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</a:endParaRPr>
          </a:p>
          <a:p>
            <a:pPr lvl="2" indent="0">
              <a:buNone/>
            </a:pPr>
            <a:endParaRPr lang="en-US" sz="2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18CA30-9AFE-4375-905B-E995FC0040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68" y="1957310"/>
            <a:ext cx="4708474" cy="10520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E59BE32-A95F-424C-A80A-7E123FD28D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5674" y="3154561"/>
            <a:ext cx="5314062" cy="283867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B16B567-F45A-429B-9DBA-00154E8B8D05}"/>
              </a:ext>
            </a:extLst>
          </p:cNvPr>
          <p:cNvSpPr txBox="1"/>
          <p:nvPr/>
        </p:nvSpPr>
        <p:spPr>
          <a:xfrm>
            <a:off x="7688911" y="6138407"/>
            <a:ext cx="33629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( from Sectional Chart side panel 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5D21F43-7B8C-4A91-BCCF-193A07A533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1664" y="1957310"/>
            <a:ext cx="4556097" cy="4582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3905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Special Use Airspace - MOA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486894"/>
            <a:ext cx="11282901" cy="4802588"/>
          </a:xfrm>
        </p:spPr>
        <p:txBody>
          <a:bodyPr>
            <a:normAutofit/>
          </a:bodyPr>
          <a:lstStyle/>
          <a:p>
            <a:r>
              <a:rPr lang="en-US" sz="2400" u="sng" dirty="0">
                <a:solidFill>
                  <a:schemeClr val="accent1">
                    <a:lumMod val="75000"/>
                  </a:schemeClr>
                </a:solidFill>
              </a:rPr>
              <a:t>Military Operating Areas (MOA)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</a:endParaRP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Depicted by magenta hatching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Areas contain military training operations  </a:t>
            </a:r>
            <a:r>
              <a:rPr lang="en-US" sz="1800" dirty="0"/>
              <a:t>(such as aerobatic maneuvers)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Pilots should use extreme caution if flying through an active MOA (“Hot”)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To determine if the MOA is “Hot”, contact the ATC Controlling Agency or the nearest FSS</a:t>
            </a:r>
          </a:p>
          <a:p>
            <a:pPr lvl="2" indent="0">
              <a:buNone/>
            </a:pP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52494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Special Use Airspace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486894"/>
            <a:ext cx="11282901" cy="4802588"/>
          </a:xfrm>
        </p:spPr>
        <p:txBody>
          <a:bodyPr>
            <a:normAutofit/>
          </a:bodyPr>
          <a:lstStyle/>
          <a:p>
            <a:r>
              <a:rPr lang="en-US" sz="2400" u="sng" dirty="0">
                <a:solidFill>
                  <a:schemeClr val="accent1">
                    <a:lumMod val="75000"/>
                  </a:schemeClr>
                </a:solidFill>
              </a:rPr>
              <a:t>Military Operating Areas (MOA) – Operational Requirements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</a:endParaRP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Extreme vigilance is the only requirement to fly through a “Hot” MOA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i="1" u="sng" dirty="0"/>
              <a:t>It is highly recommended to remain clear of an active MOA</a:t>
            </a:r>
            <a:endParaRPr lang="en-US" sz="1800" i="1" u="sng" dirty="0"/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Should flight through be required, It is recommended to contact the ATC controlling agency and participate in “VFR Flight Following”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Detailed information provided on the Sectional Chart side panel</a:t>
            </a:r>
          </a:p>
          <a:p>
            <a:pPr lvl="2" indent="0">
              <a:buNone/>
            </a:pP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19897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Special Use Airspace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486893"/>
            <a:ext cx="11282901" cy="5080883"/>
          </a:xfrm>
        </p:spPr>
        <p:txBody>
          <a:bodyPr>
            <a:normAutofit/>
          </a:bodyPr>
          <a:lstStyle/>
          <a:p>
            <a:r>
              <a:rPr lang="en-US" sz="2400" u="sng" dirty="0">
                <a:solidFill>
                  <a:schemeClr val="accent1">
                    <a:lumMod val="75000"/>
                  </a:schemeClr>
                </a:solidFill>
              </a:rPr>
              <a:t>Military Operating Areas (MOA)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</a:endParaRPr>
          </a:p>
          <a:p>
            <a:pPr lvl="2" indent="0">
              <a:buNone/>
            </a:pPr>
            <a:endParaRPr lang="en-US" sz="2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18CA30-9AFE-4375-905B-E995FC0040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1991" y="2538650"/>
            <a:ext cx="4551011" cy="101689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144BB55-8084-4E5D-8778-D25FAC0F0F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021" y="3721636"/>
            <a:ext cx="5427179" cy="208142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858B204-FF21-4D70-92E6-A60C819D480D}"/>
              </a:ext>
            </a:extLst>
          </p:cNvPr>
          <p:cNvSpPr txBox="1"/>
          <p:nvPr/>
        </p:nvSpPr>
        <p:spPr>
          <a:xfrm>
            <a:off x="7951303" y="5899868"/>
            <a:ext cx="2822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( From Sectional Side Panel 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B37E005-8698-402C-8037-50EACDB8C3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104" y="2122998"/>
            <a:ext cx="6077768" cy="384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0442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Special Use Airspace - ALERT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486894"/>
            <a:ext cx="11282901" cy="4802588"/>
          </a:xfrm>
        </p:spPr>
        <p:txBody>
          <a:bodyPr>
            <a:normAutofit/>
          </a:bodyPr>
          <a:lstStyle/>
          <a:p>
            <a:r>
              <a:rPr lang="en-US" sz="2400" u="sng" dirty="0">
                <a:solidFill>
                  <a:schemeClr val="accent1">
                    <a:lumMod val="75000"/>
                  </a:schemeClr>
                </a:solidFill>
              </a:rPr>
              <a:t>ALERT Areas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</a:endParaRP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Depicted by area bordered by magenta hatching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Identified by label:  “Alert A- ####”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Areas of concentrated traffic, usually military or civilian student training </a:t>
            </a:r>
            <a:endParaRPr lang="en-US" sz="1800" dirty="0"/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Detailed information provided on the Sectional Chart side panel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OPERATIONAL REQUIREMENTS:  </a:t>
            </a:r>
          </a:p>
          <a:p>
            <a:pPr marL="1943100" lvl="3" indent="-342900">
              <a:lnSpc>
                <a:spcPct val="150000"/>
              </a:lnSpc>
            </a:pPr>
            <a:r>
              <a:rPr lang="en-US" sz="2200" dirty="0"/>
              <a:t>Only requirement is see and avoid – exercise vigilance</a:t>
            </a:r>
          </a:p>
          <a:p>
            <a:pPr lvl="2" indent="0">
              <a:buNone/>
            </a:pP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363744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Special Use Airspace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486894"/>
            <a:ext cx="11282901" cy="4802588"/>
          </a:xfrm>
        </p:spPr>
        <p:txBody>
          <a:bodyPr>
            <a:normAutofit/>
          </a:bodyPr>
          <a:lstStyle/>
          <a:p>
            <a:r>
              <a:rPr lang="en-US" sz="2400" u="sng" dirty="0">
                <a:solidFill>
                  <a:schemeClr val="accent1">
                    <a:lumMod val="75000"/>
                  </a:schemeClr>
                </a:solidFill>
              </a:rPr>
              <a:t>Alert Areas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</a:endParaRPr>
          </a:p>
          <a:p>
            <a:pPr lvl="2" indent="0">
              <a:buNone/>
            </a:pPr>
            <a:endParaRPr lang="en-US" sz="2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18CA30-9AFE-4375-905B-E995FC0040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68" y="1957310"/>
            <a:ext cx="4708474" cy="10520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E59BE32-A95F-424C-A80A-7E123FD28D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5674" y="3154561"/>
            <a:ext cx="5314062" cy="283867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B16B567-F45A-429B-9DBA-00154E8B8D05}"/>
              </a:ext>
            </a:extLst>
          </p:cNvPr>
          <p:cNvSpPr txBox="1"/>
          <p:nvPr/>
        </p:nvSpPr>
        <p:spPr>
          <a:xfrm>
            <a:off x="7688911" y="6138407"/>
            <a:ext cx="33629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( from Sectional Chart side panel 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46921CD-AC09-47FE-B54B-B4285C5222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3143" y="2021474"/>
            <a:ext cx="3798571" cy="4738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19366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Special Use Airspace – Other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653872"/>
            <a:ext cx="11282901" cy="4635610"/>
          </a:xfrm>
        </p:spPr>
        <p:txBody>
          <a:bodyPr>
            <a:normAutofit/>
          </a:bodyPr>
          <a:lstStyle/>
          <a:p>
            <a:r>
              <a:rPr lang="en-US" sz="2800" u="sng" dirty="0">
                <a:solidFill>
                  <a:schemeClr val="tx1"/>
                </a:solidFill>
              </a:rPr>
              <a:t>Terminal Radar Service Area (TRSA)</a:t>
            </a:r>
          </a:p>
          <a:p>
            <a:pPr marL="2057400" lvl="3" indent="-457200"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</a:rPr>
              <a:t>is depicted on the charts by solid grey concentric rings</a:t>
            </a:r>
          </a:p>
          <a:p>
            <a:pPr marL="2057400" lvl="3" indent="-457200"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</a:rPr>
              <a:t>shape of each site is individually designed.</a:t>
            </a:r>
          </a:p>
          <a:p>
            <a:pPr marL="2057400" lvl="3" indent="-457200"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</a:rPr>
              <a:t>Vertically, the airspace is shaped much like an upside down </a:t>
            </a:r>
            <a:r>
              <a:rPr lang="en-US" sz="2800" i="1" dirty="0">
                <a:solidFill>
                  <a:schemeClr val="tx1"/>
                </a:solidFill>
              </a:rPr>
              <a:t>wedding cake</a:t>
            </a:r>
            <a:r>
              <a:rPr lang="en-US" sz="2800" dirty="0">
                <a:solidFill>
                  <a:schemeClr val="tx1"/>
                </a:solidFill>
              </a:rPr>
              <a:t>, with sectors affecting specific altitudes.</a:t>
            </a:r>
          </a:p>
          <a:p>
            <a:pPr marL="2057400" lvl="3" indent="-457200">
              <a:lnSpc>
                <a:spcPct val="150000"/>
              </a:lnSpc>
            </a:pPr>
            <a:r>
              <a:rPr lang="en-US" sz="2800" dirty="0"/>
              <a:t>TRSA is operationally similar to Class C Airspace</a:t>
            </a:r>
            <a:endParaRPr lang="en-US" sz="2800" dirty="0">
              <a:solidFill>
                <a:schemeClr val="tx1"/>
              </a:solidFill>
            </a:endParaRPr>
          </a:p>
          <a:p>
            <a:pPr marL="2057400" lvl="3" indent="-457200"/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32402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Special Use Airspace – Other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653872"/>
            <a:ext cx="11282901" cy="4635610"/>
          </a:xfrm>
        </p:spPr>
        <p:txBody>
          <a:bodyPr>
            <a:normAutofit/>
          </a:bodyPr>
          <a:lstStyle/>
          <a:p>
            <a:r>
              <a:rPr lang="en-US" sz="2800" u="sng" dirty="0">
                <a:solidFill>
                  <a:schemeClr val="tx1"/>
                </a:solidFill>
              </a:rPr>
              <a:t>Operation Requirements - (TRSA)</a:t>
            </a:r>
          </a:p>
          <a:p>
            <a:pPr marL="2057400" lvl="3" indent="-457200"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</a:rPr>
              <a:t>VFR </a:t>
            </a:r>
            <a:r>
              <a:rPr lang="en-US" sz="2800" dirty="0"/>
              <a:t>participation is </a:t>
            </a:r>
            <a:r>
              <a:rPr lang="en-US" sz="2800" i="1" u="sng" dirty="0"/>
              <a:t>not mandatory</a:t>
            </a:r>
            <a:endParaRPr lang="en-US" sz="2800" i="1" u="sng" dirty="0">
              <a:solidFill>
                <a:schemeClr val="tx1"/>
              </a:solidFill>
            </a:endParaRPr>
          </a:p>
          <a:p>
            <a:pPr marL="2057400" lvl="3" indent="-457200"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</a:rPr>
              <a:t>VFR pilots not wishing to participate are requested to contact </a:t>
            </a:r>
            <a:r>
              <a:rPr lang="en-US" sz="2800" dirty="0"/>
              <a:t>ATC approach control and state “Negative TRSA Service”</a:t>
            </a:r>
            <a:endParaRPr lang="en-US" sz="2800" dirty="0">
              <a:solidFill>
                <a:schemeClr val="tx1"/>
              </a:solidFill>
            </a:endParaRPr>
          </a:p>
          <a:p>
            <a:pPr lvl="3" indent="0">
              <a:lnSpc>
                <a:spcPct val="150000"/>
              </a:lnSpc>
              <a:buNone/>
            </a:pPr>
            <a:endParaRPr lang="en-US" sz="2800" dirty="0">
              <a:solidFill>
                <a:schemeClr val="tx1"/>
              </a:solidFill>
            </a:endParaRPr>
          </a:p>
          <a:p>
            <a:pPr marL="2057400" lvl="3" indent="-457200"/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83251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994DEB6-8720-43BB-8A8D-BAC6955EF000}"/>
              </a:ext>
            </a:extLst>
          </p:cNvPr>
          <p:cNvSpPr txBox="1"/>
          <p:nvPr/>
        </p:nvSpPr>
        <p:spPr>
          <a:xfrm>
            <a:off x="155643" y="508882"/>
            <a:ext cx="249214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TRSA</a:t>
            </a:r>
          </a:p>
          <a:p>
            <a:r>
              <a:rPr lang="en-US" u="sng" dirty="0"/>
              <a:t>Sector Altitudes</a:t>
            </a:r>
          </a:p>
          <a:p>
            <a:endParaRPr lang="en-US" dirty="0"/>
          </a:p>
          <a:p>
            <a:r>
              <a:rPr lang="en-US" u="sng" dirty="0"/>
              <a:t> 70 </a:t>
            </a:r>
            <a:r>
              <a:rPr lang="en-US" dirty="0"/>
              <a:t>     Top of Sector</a:t>
            </a:r>
            <a:endParaRPr lang="en-US" u="sng" dirty="0"/>
          </a:p>
          <a:p>
            <a:r>
              <a:rPr lang="en-US" dirty="0"/>
              <a:t> 08     Base of Sector 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3E78799-4918-42BF-9CAB-A3930796F3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576" y="61912"/>
            <a:ext cx="6943725" cy="673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64497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Special Use Airspace - other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486893"/>
            <a:ext cx="11282901" cy="5271715"/>
          </a:xfrm>
        </p:spPr>
        <p:txBody>
          <a:bodyPr>
            <a:normAutofit/>
          </a:bodyPr>
          <a:lstStyle/>
          <a:p>
            <a:r>
              <a:rPr lang="en-US" sz="2400" u="sng" dirty="0">
                <a:solidFill>
                  <a:schemeClr val="accent1">
                    <a:lumMod val="75000"/>
                  </a:schemeClr>
                </a:solidFill>
              </a:rPr>
              <a:t>Military Training Routes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Depicted by solid straight, grey lines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Identified by label on line:  “VR ###” or “IR ###”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Routes are used by military aircraft for high speed navigation training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VR or IR #### (4 digits) operate below 1,500’ AGL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VR or IR ### (2 or 3 digits) operate above 1,500’ AGL up to 10,000’ MSL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OPERATIONAL REQUIREMENTS:  </a:t>
            </a:r>
          </a:p>
          <a:p>
            <a:pPr marL="1943100" lvl="3" indent="-342900">
              <a:lnSpc>
                <a:spcPct val="150000"/>
              </a:lnSpc>
            </a:pPr>
            <a:r>
              <a:rPr lang="en-US" sz="2200" dirty="0"/>
              <a:t>Only requirement is see and avoid – exercise vigilance</a:t>
            </a:r>
          </a:p>
          <a:p>
            <a:pPr marL="1943100" lvl="3" indent="-342900">
              <a:lnSpc>
                <a:spcPct val="150000"/>
              </a:lnSpc>
            </a:pPr>
            <a:r>
              <a:rPr lang="en-US" sz="2200" dirty="0"/>
              <a:t>Contact FSS to inquire about operating times for routes along your flight path</a:t>
            </a:r>
          </a:p>
          <a:p>
            <a:pPr lvl="2" indent="0">
              <a:buNone/>
            </a:pP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443764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Special use Airspace – Other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653872"/>
            <a:ext cx="11282901" cy="463561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Military Training Routes (MTR’s)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08C3A6-9DC4-468B-A4C0-22BB5CB43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0414" y="2110435"/>
            <a:ext cx="4953663" cy="439175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13F36D4-0347-4662-B42F-14E51ED49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972" y="2129987"/>
            <a:ext cx="5771217" cy="4391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2518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Special Use Airspace – OTHER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486893"/>
            <a:ext cx="11282901" cy="5271715"/>
          </a:xfrm>
        </p:spPr>
        <p:txBody>
          <a:bodyPr>
            <a:normAutofit/>
          </a:bodyPr>
          <a:lstStyle/>
          <a:p>
            <a:r>
              <a:rPr lang="en-US" sz="2400" u="sng" dirty="0">
                <a:solidFill>
                  <a:schemeClr val="accent1">
                    <a:lumMod val="75000"/>
                  </a:schemeClr>
                </a:solidFill>
              </a:rPr>
              <a:t>Temporary Flight Restrictions (TFR)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Established by FDC NOTAM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 err="1"/>
              <a:t>Notam</a:t>
            </a:r>
            <a:r>
              <a:rPr lang="en-US" sz="2400" dirty="0"/>
              <a:t> provides location, effective time period, area defined in statute miles, and altitudes affected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Pilot is responsible to check for TFR’s as part of the preflight planning process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TFR’s and details available at www.tfr.faa.gov</a:t>
            </a:r>
          </a:p>
          <a:p>
            <a:pPr lvl="2" indent="0">
              <a:buNone/>
            </a:pP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479210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Special Use Airspace – OTHER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486893"/>
            <a:ext cx="11282901" cy="5271715"/>
          </a:xfrm>
        </p:spPr>
        <p:txBody>
          <a:bodyPr>
            <a:normAutofit lnSpcReduction="10000"/>
          </a:bodyPr>
          <a:lstStyle/>
          <a:p>
            <a:r>
              <a:rPr lang="en-US" sz="2400" u="sng" dirty="0">
                <a:solidFill>
                  <a:schemeClr val="accent1">
                    <a:lumMod val="75000"/>
                  </a:schemeClr>
                </a:solidFill>
              </a:rPr>
              <a:t>Other Airspace Areas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	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(PHOAK 15-4)</a:t>
            </a:r>
            <a:endParaRPr lang="en-US" sz="2400" u="sng" dirty="0">
              <a:solidFill>
                <a:schemeClr val="accent1">
                  <a:lumMod val="75000"/>
                </a:schemeClr>
              </a:solidFill>
            </a:endParaRP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Local Airport Advisory (LAA)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Parachute jump aircraft operations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Published VFR Routes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National Security Areas (NSA)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Air Defense Identification Zones (ADIZ)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Flight Restricted Zones in vicinity of White House &amp; Capital (FRZ)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Wildlife and Wilderness Areas, National Parks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NOAA Marine Areas</a:t>
            </a:r>
          </a:p>
          <a:p>
            <a:pPr lvl="2" indent="0">
              <a:buNone/>
            </a:pP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747986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Airspace – VFR Weather Minimums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653872"/>
            <a:ext cx="11282901" cy="463561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0492664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1BB63AA-4D64-432C-9374-C3C6045D0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2642" y="151075"/>
            <a:ext cx="5761624" cy="65558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81A08EF-BBED-4189-908D-FE5050DE66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2707" y="151075"/>
            <a:ext cx="3326182" cy="65558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6898EA2-A409-4122-9680-D3A4E54F25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2546" y="3164464"/>
            <a:ext cx="820445" cy="529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04589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43D6B26-D037-4DE7-962F-29C7BFDCE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3984" y="244380"/>
            <a:ext cx="5758680" cy="636923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9B458F4-0895-4624-96A4-520B23B7E9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0718" y="244379"/>
            <a:ext cx="1296026" cy="636923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68D5EF9-99E2-4166-BE4A-9003F7F101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238" y="3119827"/>
            <a:ext cx="836585" cy="618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55469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57A9F16-26FF-4F47-A9BF-C339A04C1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382" y="246490"/>
            <a:ext cx="5233149" cy="636501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3F6AD8D-4301-488E-9089-C944E6725F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6531" y="246490"/>
            <a:ext cx="2088078" cy="636501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5A7856F-3FEA-4E4C-BEA3-FC81DC8DA3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9006" y="1232452"/>
            <a:ext cx="1071564" cy="53790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0A5743-3174-4FB7-A854-E7084A14F9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3333" y="3119827"/>
            <a:ext cx="836585" cy="618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83304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30677F-6844-46D0-B1D0-8846728DAF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547" y="180633"/>
            <a:ext cx="8071485" cy="64967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DE15F1F-2660-44CF-940F-E4BB163B1E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9159" y="3073380"/>
            <a:ext cx="749120" cy="553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05408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DE15F1F-2660-44CF-940F-E4BB163B1E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9159" y="3073380"/>
            <a:ext cx="749120" cy="5536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7FAED22-2807-4A3F-AEF9-7EE812373DF1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667000" y="624840"/>
            <a:ext cx="6858000" cy="5608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91449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Airspace – Special VFR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653872"/>
            <a:ext cx="11282901" cy="4635610"/>
          </a:xfrm>
        </p:spPr>
        <p:txBody>
          <a:bodyPr>
            <a:normAutofit/>
          </a:bodyPr>
          <a:lstStyle/>
          <a:p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tx1"/>
                </a:solidFill>
              </a:rPr>
              <a:t>Allows operations within controlled airspace in weather conditions less than basic</a:t>
            </a:r>
          </a:p>
          <a:p>
            <a:r>
              <a:rPr lang="en-US" sz="2000" dirty="0">
                <a:solidFill>
                  <a:schemeClr val="tx1"/>
                </a:solidFill>
              </a:rPr>
              <a:t>    VFR</a:t>
            </a:r>
          </a:p>
          <a:p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tx1"/>
                </a:solidFill>
              </a:rPr>
              <a:t>Provides IFR separation to VFR traffic</a:t>
            </a:r>
          </a:p>
          <a:p>
            <a:pPr marL="342900" indent="-342900">
              <a:buFontTx/>
              <a:buChar char="-"/>
            </a:pP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tx1"/>
                </a:solidFill>
              </a:rPr>
              <a:t>Must be requested by Pilot and approved by ATC (may be relayed by FSS)</a:t>
            </a:r>
          </a:p>
          <a:p>
            <a:pPr marL="342900" indent="-342900">
              <a:buFontTx/>
              <a:buChar char="-"/>
            </a:pP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tx1"/>
                </a:solidFill>
              </a:rPr>
              <a:t> Allowed within lateral boundaries of surface areas of Class B, C, D, or E airspace up to but not including 10,000’ MSL</a:t>
            </a:r>
          </a:p>
          <a:p>
            <a:pPr marL="342900" indent="-342900">
              <a:buFontTx/>
              <a:buChar char="-"/>
            </a:pP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516574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Airspace – Special VFR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653872"/>
            <a:ext cx="11282901" cy="4635610"/>
          </a:xfrm>
        </p:spPr>
        <p:txBody>
          <a:bodyPr>
            <a:normAutofit/>
          </a:bodyPr>
          <a:lstStyle/>
          <a:p>
            <a:r>
              <a:rPr lang="en-US" sz="2400" u="sng" dirty="0">
                <a:solidFill>
                  <a:schemeClr val="tx1"/>
                </a:solidFill>
              </a:rPr>
              <a:t>Special VFR Requirements</a:t>
            </a:r>
          </a:p>
          <a:p>
            <a:r>
              <a:rPr lang="en-US" sz="2000" dirty="0">
                <a:solidFill>
                  <a:schemeClr val="tx1"/>
                </a:solidFill>
              </a:rPr>
              <a:t>	- Clearance from ATC</a:t>
            </a:r>
          </a:p>
          <a:p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	- Weather minimums:	1SM / clear of clouds</a:t>
            </a:r>
          </a:p>
          <a:p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	- Night:  Pilot and aircraft must IFR rated &amp; equipped</a:t>
            </a:r>
          </a:p>
          <a:p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	- If ground visibility is not reported, it may be replaced with 1 SM of flight </a:t>
            </a:r>
          </a:p>
          <a:p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	- Special VFR not allowed at certain large airports (noted on sectional chart)</a:t>
            </a:r>
          </a:p>
        </p:txBody>
      </p:sp>
    </p:spTree>
    <p:extLst>
      <p:ext uri="{BB962C8B-B14F-4D97-AF65-F5344CB8AC3E}">
        <p14:creationId xmlns:p14="http://schemas.microsoft.com/office/powerpoint/2010/main" val="72395781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59BA342-3942-4D64-9785-44D61258F8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7070" y="216364"/>
            <a:ext cx="3355451" cy="6345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5083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7687</TotalTime>
  <Words>1328</Words>
  <Application>Microsoft Office PowerPoint</Application>
  <PresentationFormat>Widescreen</PresentationFormat>
  <Paragraphs>345</Paragraphs>
  <Slides>58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5" baseType="lpstr">
      <vt:lpstr>Arial</vt:lpstr>
      <vt:lpstr>Calibri</vt:lpstr>
      <vt:lpstr>Calibri Light</vt:lpstr>
      <vt:lpstr>Helvetica</vt:lpstr>
      <vt:lpstr>Helvetica Light</vt:lpstr>
      <vt:lpstr>Helvetica Neue</vt:lpstr>
      <vt:lpstr>Office Theme</vt:lpstr>
      <vt:lpstr>  </vt:lpstr>
      <vt:lpstr>PowerPoint Presentation</vt:lpstr>
      <vt:lpstr>Airspace  </vt:lpstr>
      <vt:lpstr>Airspace  </vt:lpstr>
      <vt:lpstr>Airspace  </vt:lpstr>
      <vt:lpstr>Airspace  </vt:lpstr>
      <vt:lpstr>PowerPoint Presentation</vt:lpstr>
      <vt:lpstr>Airspace – Class B (Bravo)  </vt:lpstr>
      <vt:lpstr>Airspace – Class B  </vt:lpstr>
      <vt:lpstr>PowerPoint Presentation</vt:lpstr>
      <vt:lpstr>PowerPoint Presentation</vt:lpstr>
      <vt:lpstr>Airspace – Class C (Charlie)  </vt:lpstr>
      <vt:lpstr>PowerPoint Presentation</vt:lpstr>
      <vt:lpstr>Airspace – Class C  </vt:lpstr>
      <vt:lpstr>PowerPoint Presentation</vt:lpstr>
      <vt:lpstr>PowerPoint Presentation</vt:lpstr>
      <vt:lpstr>Airspace – Class D (Delta)  </vt:lpstr>
      <vt:lpstr>Airspace – Class D  </vt:lpstr>
      <vt:lpstr>PowerPoint Presentation</vt:lpstr>
      <vt:lpstr>Airspace – Class D </vt:lpstr>
      <vt:lpstr>Airspace – Class E (Echo)  </vt:lpstr>
      <vt:lpstr>Airspace – Class E   </vt:lpstr>
      <vt:lpstr>PowerPoint Presentation</vt:lpstr>
      <vt:lpstr>Airspace – Class E   </vt:lpstr>
      <vt:lpstr>Airspace – Class E  </vt:lpstr>
      <vt:lpstr>PowerPoint Presentation</vt:lpstr>
      <vt:lpstr>Airspace – Class E   </vt:lpstr>
      <vt:lpstr>Airspace – Class E  </vt:lpstr>
      <vt:lpstr>PowerPoint Presentation</vt:lpstr>
      <vt:lpstr>Airspace – Class G (Golf) Uncontrolled Airspace </vt:lpstr>
      <vt:lpstr>Airspace – Class G </vt:lpstr>
      <vt:lpstr>Special Use Airspace - Prohibited  </vt:lpstr>
      <vt:lpstr>Special Use Airspace  </vt:lpstr>
      <vt:lpstr>Special Use Airspace - Restricted  </vt:lpstr>
      <vt:lpstr>Special Use Airspace  </vt:lpstr>
      <vt:lpstr>Special Use Airspace - Warning </vt:lpstr>
      <vt:lpstr>Special Use Airspace  </vt:lpstr>
      <vt:lpstr>Special Use Airspace - MOA  </vt:lpstr>
      <vt:lpstr>Special Use Airspace  </vt:lpstr>
      <vt:lpstr>Special Use Airspace  </vt:lpstr>
      <vt:lpstr>Special Use Airspace - ALERT  </vt:lpstr>
      <vt:lpstr>Special Use Airspace  </vt:lpstr>
      <vt:lpstr>Special Use Airspace – Other  </vt:lpstr>
      <vt:lpstr>Special Use Airspace – Other  </vt:lpstr>
      <vt:lpstr>PowerPoint Presentation</vt:lpstr>
      <vt:lpstr>Special Use Airspace - other </vt:lpstr>
      <vt:lpstr>Special use Airspace – Other  </vt:lpstr>
      <vt:lpstr>Special Use Airspace – OTHER </vt:lpstr>
      <vt:lpstr>Special Use Airspace – OTHER </vt:lpstr>
      <vt:lpstr>Airspace – VFR Weather Minimums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Airspace – Special VFR  </vt:lpstr>
      <vt:lpstr>Airspace – Special VFR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Randy Coulson</dc:creator>
  <cp:lastModifiedBy>NCP</cp:lastModifiedBy>
  <cp:revision>82</cp:revision>
  <cp:lastPrinted>2019-02-03T18:16:30Z</cp:lastPrinted>
  <dcterms:created xsi:type="dcterms:W3CDTF">2019-02-02T21:35:12Z</dcterms:created>
  <dcterms:modified xsi:type="dcterms:W3CDTF">2019-09-03T19:13:34Z</dcterms:modified>
</cp:coreProperties>
</file>